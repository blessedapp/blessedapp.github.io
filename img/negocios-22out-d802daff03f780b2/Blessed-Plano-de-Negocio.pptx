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01 — 15 segundos</a:t>
            </a:r>
          </a:p>
          <a:p/>
          <a:p>
            <a:r>
              <a:t>Eu sou o desenvolvedor do Blessed. A proposta é transformar uma comunidade digital em um ambiente onde as pessoas convivem, criadores mostram seu trabalho e empresas constroem relações. Hoje eu apresento o produto existente, o caminho comercial e o investimento necessário para validar esse negócio.</a:t>
            </a:r>
          </a:p>
          <a:p/>
          <a:p>
            <a:r>
              <a:t>Origem: revisão do código e telas atuais do Blessed em 22/10/2026. Os cenários e metas são hipóteses identificadas, não resultados atuais.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02 — 25 segundos</a:t>
            </a:r>
          </a:p>
          <a:p/>
          <a:p>
            <a:r>
              <a:t>O Blessed não precisa nascer maior que o Instagram. Precisa resolver um recorte melhor. Usuários querem encontrar pessoas e conteúdo; criadores precisam de visibilidade e oportunidades; empresas precisam de relacionamento e produção relevante. A aposta inicial é conectar esses interesses em comunidades próximas, onde a equipe consegue acompanhar a qualidade e aprender com campanhas pequenas.</a:t>
            </a:r>
          </a:p>
          <a:p/>
          <a:p>
            <a:r>
              <a:t>Origem: revisão do código e telas atuais do Blessed em 22/10/2026. Os cenários e metas são hipóteses identificadas, não resultados atuais.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03 — 20 segundos</a:t>
            </a:r>
          </a:p>
          <a:p/>
          <a:p>
            <a:r>
              <a:t>O produto já pode ser navegado. A estrutura reúne início, parceria, descoberta, publicação, Cine, Games e perfil. A experiência funciona pelo navegador e pode ser adicionada à tela inicial. Isso reduz a barreira de entrada. Na apresentação, as telas são capturas do código atual; áreas privadas são demonstradas sem conversas ou receitas reais.</a:t>
            </a:r>
          </a:p>
          <a:p/>
          <a:p>
            <a:r>
              <a:t>Origem: revisão do código e telas atuais do Blessed em 22/10/2026. Os cenários e metas são hipóteses identificadas, não resultados atuais.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04 — 25 segundos</a:t>
            </a:r>
          </a:p>
          <a:p/>
          <a:p>
            <a:r>
              <a:t>Para o usuário comum, o benefício é imediato: publicar um momento, encontrar pessoas e conversar. O feed oferece curtidas, comentários, salvos e compartilhamento. Os pensamentos mostram uma prévia curta, sem eliminar o texto completo. O importante para o negócio é a rotina: a pessoa precisa encontrar uma razão recorrente para voltar, e não apenas criar uma conta no lançamento.</a:t>
            </a:r>
          </a:p>
          <a:p/>
          <a:p>
            <a:r>
              <a:t>Origem: revisão do código e telas atuais do Blessed em 22/10/2026. Os cenários e metas são hipóteses identificadas, não resultados atuais.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05 — 30 segundos</a:t>
            </a:r>
          </a:p>
          <a:p/>
          <a:p>
            <a:r>
              <a:t>Momentos aproxima a plataforma da rotina: conteúdo rápido, temporário e fácil de consumir. O usuário controla a audiência e o autor acompanha quem viu, curtidas e revisualizações. Essa informação é útil ao criador, mas não deve ser confundida com faturamento ou audiência garantida. A demonstração usa um estado vazio para não expor dados privados de visualização.</a:t>
            </a:r>
          </a:p>
          <a:p/>
          <a:p>
            <a:r>
              <a:t>Origem: revisão do código e telas atuais do Blessed em 22/10/2026. Os cenários e metas são hipóteses identificadas, não resultados atuais.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06 — 30 segundos</a:t>
            </a:r>
          </a:p>
          <a:p/>
          <a:p>
            <a:r>
              <a:t>O Cine separa dois usos. A comunidade publica vídeos verticais curtos. Cinema e séries organiza produções horizontais com capa, sinopse, capítulos e estreia. O controle de canais fica com a administração para preservar curadoria e direitos. Existe no produto a proposta de cinco reais mensais para filmes, mas a cobrança ainda precisa ser integrada. Esse valor é uma oferta planejada, não receita em funcionamento.</a:t>
            </a:r>
          </a:p>
          <a:p/>
          <a:p>
            <a:r>
              <a:t>Origem: revisão do código e telas atuais do Blessed em 22/10/2026. Os cenários e metas são hipóteses identificadas, não resultados atuais.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07 — 30 segundos</a:t>
            </a:r>
          </a:p>
          <a:p/>
          <a:p>
            <a:r>
              <a:t>O chat transforma a atenção em relacionamento. Ele reúne texto, foto, áudio, resposta e controles de leitura, além de bloqueio e denúncia. Para empresas, isso cria um caminho direto entre descoberta e atendimento. Também existe chamada de voz por WebRTC, cuja estabilidade depende das redes e da infraestrutura de conectividade. A tela mostrada está vazia de propósito: nenhuma conversa privada foi usada nesta apresentação.</a:t>
            </a:r>
          </a:p>
          <a:p/>
          <a:p>
            <a:r>
              <a:t>Origem: revisão do código e telas atuais do Blessed em 22/10/2026. Os cenários e metas são hipóteses identificadas, não resultados atuais.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08 — 25 segundos</a:t>
            </a:r>
          </a:p>
          <a:p/>
          <a:p>
            <a:r>
              <a:t>O perfil organiza a identidade. A empresa pode mostrar informações comerciais e o usuário pode conhecer a marca antes de conversar. Pessoas têm biografia, conteúdo, seguidores e configurações de privacidade. O valor aqui não é um número decorativo de seguidores: é construir uma presença verificável, com conteúdo e relacionamento. As capturas usam informações públicas já existentes.</a:t>
            </a:r>
          </a:p>
          <a:p/>
          <a:p>
            <a:r>
              <a:t>Origem: revisão do código e telas atuais do Blessed em 22/10/2026. Os cenários e metas são hipóteses identificadas, não resultados atuais.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09 — 25 segundos</a:t>
            </a:r>
          </a:p>
          <a:p/>
          <a:p>
            <a:r>
              <a:t>Games e ranking criam motivos adicionais para voltar. O aplicativo reúne jogos, desafios e pontuação, além do ranking mensal da comunidade. São ferramentas de participação; o efeito real sobre retenção precisa ser medido. Benefícios e prêmios devem ter regras, operação e transparência, para não virar apenas uma promessa visual. A prioridade é estimular participação de qualidade.</a:t>
            </a:r>
          </a:p>
          <a:p/>
          <a:p>
            <a:r>
              <a:t>Origem: revisão do código e telas atuais do Blessed em 22/10/2026. Os cenários e metas são hipóteses identificadas, não resultados atuais.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10 — 35 segundos</a:t>
            </a:r>
          </a:p>
          <a:p/>
          <a:p>
            <a:r>
              <a:t>O criador precisa de uma vitrine e de uma ponte para o mercado. O Blessed já tem cadastro de interesses, link de portfólio e consentimento para receber contato sobre oportunidades. O painel de ganhos e histórico está estruturado, mas os pagamentos e saques ainda não estão ativados. Na tela, saldo zero representa um estado demonstrativo sem transações. O próximo passo é transformar essa base em campanhas-piloto com resultados verificáveis.</a:t>
            </a:r>
          </a:p>
          <a:p/>
          <a:p>
            <a:r>
              <a:t>Origem: revisão do código e telas atuais do Blessed em 22/10/2026. Os cenários e metas são hipóteses identificadas, não resultados atuais.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11 — 35 segundos</a:t>
            </a:r>
          </a:p>
          <a:p/>
          <a:p>
            <a:r>
              <a:t>Para a empresa, o benefício é reduzir a distância entre encontrar alguém e iniciar uma parceria. Hoje há perfis comerciais, conteúdo e chat; os criadores também já podem informar portfólio e interesses à equipe. A operação inicial deve ser assistida, com curadoria, briefing e acordo claro. O painel onde a empresa filtra portfólios e envia uma solicitação estruturada é uma próxima entrega. É justamente uma oportunidade para o investimento destravar.</a:t>
            </a:r>
          </a:p>
          <a:p/>
          <a:p>
            <a:r>
              <a:t>Origem: revisão do código e telas atuais do Blessed em 22/10/2026. Os cenários e metas são hipóteses identificadas, não resultados atuais.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12 — 25 segundos</a:t>
            </a:r>
          </a:p>
          <a:p/>
          <a:p>
            <a:r>
              <a:t>O selo azul tem valor quando sinaliza uma identidade conferida, além do destaque e atendimento anunciados. A oferta exibida é de quatorze e noventa para pessoa e trinta e quatro e noventa para empresa por mês. A liberação depende de análise; não significa garantia de venda. O selo amarelo de criador é uma proposta de reconhecimento por critérios. Separar os dois evita vender credibilidade apenas como um ícone.</a:t>
            </a:r>
          </a:p>
          <a:p/>
          <a:p>
            <a:r>
              <a:t>Origem: revisão do código e telas atuais do Blessed em 22/10/2026. Os cenários e metas são hipóteses identificadas, não resultados atuais.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13 — 40 segundos</a:t>
            </a:r>
          </a:p>
          <a:p/>
          <a:p>
            <a:r>
              <a:t>A conexão usa HTTPS e TLS, protegendo os dados em trânsito. O login é gerenciado pelo Supabase Auth. O projeto define regras de acesso por participante para o chat e políticas para mídias privadas com links temporários. Há também bloqueio, denúncia e filtros de comentários. Precisamos ser precisos: isso não é criptografia ponta a ponta e não substitui uma auditoria independente da produção. Parte do investimento deve financiar validação de segurança, privacidade e resposta a incidentes.</a:t>
            </a:r>
          </a:p>
          <a:p/>
          <a:p>
            <a:r>
              <a:t>Origem: revisão do código e telas atuais do Blessed em 22/10/2026. Os cenários e metas são hipóteses identificadas, não resultados atuais.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14 — 35 segundos</a:t>
            </a:r>
          </a:p>
          <a:p/>
          <a:p>
            <a:r>
              <a:t>O crescimento proposto é concentrado: um grupo de criadores, uma comunidade próxima e algumas empresas parceiras. Criadores trazem conteúdo, pessoas voltam por relacionamento, empresas testam campanhas e bons casos atraem novos participantes. Não há garantia de viralização. A medida central é retenção por coorte, acompanhada de convites que geram usuários ativos e da repetição de campanhas. Sem retorno recorrente, aumentar aquisição só aumenta o custo.</a:t>
            </a:r>
          </a:p>
          <a:p/>
          <a:p>
            <a:r>
              <a:t>Origem: revisão do código e telas atuais do Blessed em 22/10/2026. Os cenários e metas são hipóteses identificadas, não resultados atuais.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15 — 40 segundos</a:t>
            </a:r>
          </a:p>
          <a:p/>
          <a:p>
            <a:r>
              <a:t>O modelo começa com as ofertas de verificação já exibidas. A simulação usa dois por cento da base ativa em assinaturas pessoais e zero vírgula dois por cento em empresas. Com dez mil usuários ativos, isso daria duzentas pessoas e vinte empresas, ou três mil seiscentos e setenta e oito reais brutos por mês. Não é previsão nem receita atual. Pagamentos, impostos, reembolsos e operação reduzem esse valor. Cine e campanhas são possibilidades futuras e ficaram fora da conta principal.</a:t>
            </a:r>
          </a:p>
          <a:p/>
          <a:p>
            <a:r>
              <a:t>Origem: revisão do código e telas atuais do Blessed em 22/10/2026. Os cenários e metas são hipóteses identificadas, não resultados atuais.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16 — 40 segundos</a:t>
            </a:r>
          </a:p>
          <a:p/>
          <a:p>
            <a:r>
              <a:t>A manutenção precisa ser orçada em camadas. O Supabase Pro parte de vinte e cinco dólares mensais; o R2 cobra armazenamento e operações. Domínio, e-mail, monitoramento, processamento de mídia e conectividade de voz também entram na conta. As faixas mostradas são envelopes de planejamento, não faturas nem uma relação garantida com o número de usuários. Vídeo, tempo de retenção e requisições mudam o custo. Além da tecnologia, o negócio precisa financiar pessoas, moderação e suporte.</a:t>
            </a:r>
          </a:p>
          <a:p/>
          <a:p>
            <a:r>
              <a:t>Origem: revisão do código e telas atuais do Blessed em 22/10/2026. Os cenários e metas são hipóteses identificadas, não resultados atuais.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17 — 30 segundos</a:t>
            </a:r>
          </a:p>
          <a:p/>
          <a:p>
            <a:r>
              <a:t>Não é preciso trocar todos os planos no mesmo dia. Para uma operação comercial, eu priorizaria um ambiente de produção com backup e controle de custos. Depois, cada serviço cresce pelo seu gargalo: banco por carga e conexões, armazenamento por volume, e-mail por entregas e voz por conectividade. Propomos alertas de consumo e testes de carga. O plano Team do Supabase não é uma exigência automática por ter mais usuários; governança e requisitos contratuais também determinam essa decisão.</a:t>
            </a:r>
          </a:p>
          <a:p/>
          <a:p>
            <a:r>
              <a:t>Origem: revisão do código e telas atuais do Blessed em 22/10/2026. Os cenários e metas são hipóteses identificadas, não resultados atuais.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18 — 30 segundos</a:t>
            </a:r>
          </a:p>
          <a:p/>
          <a:p>
            <a:r>
              <a:t>Em noventa dias, o objetivo é produzir evidência de negócio. Primeiro, medir cadastro, ativação e retorno, além de estabilizar infraestrutura e segurança. Depois, operar um piloto pequeno com criadores e empresas. Propomos vinte criadores, dez empresas e cinco campanhas concluídas, como metas a aprovar, não resultados atuais. Ao final, avaliamos retenção, entregas e intenção de recompra para decidir se vale ampliar aquisição e automatizar o comercial.</a:t>
            </a:r>
          </a:p>
          <a:p/>
          <a:p>
            <a:r>
              <a:t>Origem: revisão do código e telas atuais do Blessed em 22/10/2026. Os cenários e metas são hipóteses identificadas, não resultados atuais.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19 — 30 segundos</a:t>
            </a:r>
          </a:p>
          <a:p/>
          <a:p>
            <a:r>
              <a:t>O ativo inicial é o produto construído e o conhecimento do desenvolvedor sobre a operação. O investimento deve transformar isso em uma empresa sustentável, não financiar apenas mais telas. A distribuição é ilustrativa: produto e confiabilidade, operação de parcerias, aquisição e uma reserva de segurança e jurídico. Não estou fixando valuation, participação nem valor. A proposta é negociar um piloto com orçamento e marcos claros de continuidade.</a:t>
            </a:r>
          </a:p>
          <a:p/>
          <a:p>
            <a:r>
              <a:t>Origem: revisão do código e telas atuais do Blessed em 22/10/2026. Os cenários e metas são hipóteses identificadas, não resultados atuais.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20 — 15 segundos</a:t>
            </a:r>
          </a:p>
          <a:p/>
          <a:p>
            <a:r>
              <a:t>O convite é construir o próximo estágio com método: uma comunidade que volta, criadores que entregam e empresas que percebem valor. Vamos definir juntos o orçamento do piloto, as responsabilidades e os indicadores que justificam o próximo investimento.</a:t>
            </a:r>
          </a:p>
          <a:p/>
          <a:p>
            <a:r>
              <a:t>Origem: revisão do código e telas atuais do Blessed em 22/10/2026. Os cenários e metas são hipóteses identificadas, não resultados atuais.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Não confundir prontidão visual com operação comercial completa. O investimento deve financiar validação e conclusão das integrações identificadas.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Fontes: Supabase shared-data/plans.ts e pricing.ts; Cloudflare R2 Pricing e Workers Pricing. Preços não são faturas da conta do proprietário. Conversão para reais usa premissa de R$ 6,00/US$, sem IOF ou spread.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Aplicação ilustrativa do preço R2 Standard e da franquia de 10 GB-mês. O R2 arredonda unidades de cobrança. Saída à internet sem tarifa não elimina custos de requisições, transcodificação, funções ou serviços de entrega adicionais.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reserva de 12% é uma hipótese gerencial, não alíquota fiscal nem tarifa de um provedor. O cenário usa conversão total de 2,2% e não inclui Cine ou campanhas. Contratar contabilidade e validar termos comerciais antes de vender ou cobrar.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Esses riscos são condições normais de execução de uma rede social em estágio inicial. Nenhum resultado, crescimento ou retorno do investimento é garantido. A diligência deve considerar dados reais de uso e sustentabilidade operacional.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Não apresentar a amostra da API pública como base ativa nem usar seguidores e publicações como prova de receita. Os indicadores devem ser instrumentados e acompanhados por coorte. Não há série histórica auditada nesta apresentação.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Fontes oficiais consultadas via seus repositórios públicos. As telas autenticadas foram renderizadas localmente com o código atual; conteúdos públicos foram preservados e áreas privadas mostram estados demonstrativos/vazios. A capa de cinema não foi obtida neste ambiente; mostram-se o seletor e metadados reais. Não foram geradas fotografias nem inventadas transações, usuários ativos ou receitas.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3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con-1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4320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05256" y="256032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800" b="1">
                <a:solidFill>
                  <a:srgbClr val="FFFFFF"/>
                </a:solidFill>
                <a:latin typeface="Liberation Sans"/>
              </a:defRPr>
            </a:pPr>
            <a:r>
              <a:t>blessed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33472" y="320040"/>
            <a:ext cx="896112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000" b="1">
                <a:solidFill>
                  <a:srgbClr val="BBC8FF"/>
                </a:solidFill>
                <a:latin typeface="Liberation Sans"/>
              </a:defRPr>
            </a:pPr>
            <a:r>
              <a:t>BLESSED · PROPOSTA DE NEGÓCIO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09944"/>
            <a:ext cx="11000232" cy="10972"/>
          </a:xfrm>
          <a:prstGeom prst="rect">
            <a:avLst/>
          </a:prstGeom>
          <a:solidFill>
            <a:srgbClr val="26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6537960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810" b="0">
                <a:solidFill>
                  <a:srgbClr val="BBC8FF"/>
                </a:solidFill>
                <a:latin typeface="Liberation Sans"/>
              </a:defRPr>
            </a:pPr>
            <a:r>
              <a:t>BLESSED  /  NEGÓCIOS  /  22 OUT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01384"/>
            <a:ext cx="78638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1100" b="1">
                <a:solidFill>
                  <a:srgbClr val="BBC8FF"/>
                </a:solidFill>
                <a:latin typeface="Liberation Sans"/>
              </a:defRPr>
            </a:pPr>
            <a:r>
              <a:t>01 /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8366760" y="0"/>
            <a:ext cx="3824935" cy="6400800"/>
          </a:xfrm>
          <a:prstGeom prst="rect">
            <a:avLst/>
          </a:prstGeom>
          <a:solidFill>
            <a:srgbClr val="152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875520" y="0"/>
            <a:ext cx="2316175" cy="6400800"/>
          </a:xfrm>
          <a:prstGeom prst="rect">
            <a:avLst/>
          </a:prstGeom>
          <a:solidFill>
            <a:srgbClr val="1C2E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508760"/>
            <a:ext cx="777240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4700" b="1">
                <a:solidFill>
                  <a:srgbClr val="FFFFFF"/>
                </a:solidFill>
                <a:latin typeface="Liberation Sans"/>
              </a:defRPr>
            </a:pPr>
            <a:r>
              <a:t>Uma comunidade.</a:t>
            </a:r>
          </a:p>
          <a:p>
            <a:pPr>
              <a:lnSpc>
                <a:spcPct val="108000"/>
              </a:lnSpc>
              <a:spcAft>
                <a:spcPts val="0"/>
              </a:spcAft>
              <a:defRPr sz="4700" b="1">
                <a:solidFill>
                  <a:srgbClr val="FFFFFF"/>
                </a:solidFill>
                <a:latin typeface="Liberation Sans"/>
              </a:defRPr>
            </a:pPr>
            <a:r>
              <a:t>Novas conexões.</a:t>
            </a:r>
          </a:p>
          <a:p>
            <a:pPr>
              <a:lnSpc>
                <a:spcPct val="108000"/>
              </a:lnSpc>
              <a:spcAft>
                <a:spcPts val="0"/>
              </a:spcAft>
              <a:defRPr sz="4700" b="1">
                <a:solidFill>
                  <a:srgbClr val="FFFFFF"/>
                </a:solidFill>
                <a:latin typeface="Liberation Sans"/>
              </a:defRPr>
            </a:pPr>
            <a:r>
              <a:t>Negócios reais.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462272"/>
            <a:ext cx="65836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2000" b="0">
                <a:solidFill>
                  <a:srgbClr val="BBC8FF"/>
                </a:solidFill>
                <a:latin typeface="Liberation Sans"/>
              </a:defRPr>
            </a:pPr>
            <a:r>
              <a:t>A rede social que aproxima pessoas, criadores e empresas.</a:t>
            </a:r>
          </a:p>
        </p:txBody>
      </p:sp>
      <p:pic>
        <p:nvPicPr>
          <p:cNvPr id="12" name="Picture 11" descr="icone-blessed-arredondad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7112" y="2148840"/>
            <a:ext cx="2286000" cy="2286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85800" y="577900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500" b="0">
                <a:solidFill>
                  <a:srgbClr val="BBC8FF"/>
                </a:solidFill>
                <a:latin typeface="Liberation Sans"/>
              </a:defRPr>
            </a:pPr>
            <a:r>
              <a:t>Apresentação do desenvolvedor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099048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300" b="0">
                <a:solidFill>
                  <a:srgbClr val="BBC8FF"/>
                </a:solidFill>
                <a:latin typeface="Liberation Sans"/>
              </a:defRPr>
            </a:pPr>
            <a:r>
              <a:t>blessedcomunidade.com.br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con-1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4320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05256" y="256032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800" b="1">
                <a:solidFill>
                  <a:srgbClr val="18223B"/>
                </a:solidFill>
                <a:latin typeface="Liberation Sans"/>
              </a:defRPr>
            </a:pPr>
            <a:r>
              <a:t>blessed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33472" y="320040"/>
            <a:ext cx="896112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000" b="1">
                <a:solidFill>
                  <a:srgbClr val="405DF5"/>
                </a:solidFill>
                <a:latin typeface="Liberation Sans"/>
              </a:defRPr>
            </a:pPr>
            <a:r>
              <a:t>A TESE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09944"/>
            <a:ext cx="11000232" cy="10972"/>
          </a:xfrm>
          <a:prstGeom prst="rect">
            <a:avLst/>
          </a:prstGeom>
          <a:solidFill>
            <a:srgbClr val="DCE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6537960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810" b="0">
                <a:solidFill>
                  <a:srgbClr val="62708A"/>
                </a:solidFill>
                <a:latin typeface="Liberation Sans"/>
              </a:defRPr>
            </a:pPr>
            <a:r>
              <a:t>BLESSED  /  NEGÓCIOS  /  22 OUT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01384"/>
            <a:ext cx="78638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1100" b="1">
                <a:solidFill>
                  <a:srgbClr val="405DF5"/>
                </a:solidFill>
                <a:latin typeface="Liberation Sans"/>
              </a:defRPr>
            </a:pPr>
            <a:r>
              <a:t>02 /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841248"/>
            <a:ext cx="1097280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3000" b="1">
                <a:solidFill>
                  <a:srgbClr val="18223B"/>
                </a:solidFill>
                <a:latin typeface="Liberation Sans"/>
              </a:defRPr>
            </a:pPr>
            <a:r>
              <a:t>Conteúdo cria atenção.</a:t>
            </a:r>
          </a:p>
          <a:p>
            <a:pPr>
              <a:lnSpc>
                <a:spcPct val="108000"/>
              </a:lnSpc>
              <a:spcAft>
                <a:spcPts val="0"/>
              </a:spcAft>
              <a:defRPr sz="3000" b="1">
                <a:solidFill>
                  <a:srgbClr val="18223B"/>
                </a:solidFill>
                <a:latin typeface="Liberation Sans"/>
              </a:defRPr>
            </a:pPr>
            <a:r>
              <a:t>Relacionamento cria oportunidade.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975104"/>
            <a:ext cx="108813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600" b="0">
                <a:solidFill>
                  <a:srgbClr val="62708A"/>
                </a:solidFill>
                <a:latin typeface="Liberation Sans"/>
              </a:defRPr>
            </a:pPr>
            <a:r>
              <a:t>O ponto de entrada é a comunidade; o diferencial comercial é aproximar quem cria de quem precisa de conteúdo.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926080"/>
            <a:ext cx="3575304" cy="2039112"/>
          </a:xfrm>
          <a:prstGeom prst="roundRect">
            <a:avLst>
              <a:gd name="adj" fmla="val 12000"/>
            </a:avLst>
          </a:prstGeom>
          <a:solidFill>
            <a:srgbClr val="F3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309067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300" b="1">
                <a:solidFill>
                  <a:srgbClr val="405DF5"/>
                </a:solidFill>
                <a:latin typeface="Liberation Sans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6152" y="3108960"/>
            <a:ext cx="281635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900" b="1">
                <a:solidFill>
                  <a:srgbClr val="18223B"/>
                </a:solidFill>
                <a:latin typeface="Liberation Sans"/>
              </a:defRPr>
            </a:pPr>
            <a:r>
              <a:t>Pessoas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3703320"/>
            <a:ext cx="3172968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500" b="0">
                <a:solidFill>
                  <a:srgbClr val="62708A"/>
                </a:solidFill>
                <a:latin typeface="Liberation Sans"/>
              </a:defRPr>
            </a:pPr>
            <a:r>
              <a:t>Um lugar para publicar, conversar e acompanhar interesses.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2926080"/>
            <a:ext cx="3575304" cy="2039112"/>
          </a:xfrm>
          <a:prstGeom prst="roundRect">
            <a:avLst>
              <a:gd name="adj" fmla="val 12000"/>
            </a:avLst>
          </a:prstGeom>
          <a:solidFill>
            <a:srgbClr val="F3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0288" y="309067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300" b="1">
                <a:solidFill>
                  <a:srgbClr val="405DF5"/>
                </a:solidFill>
                <a:latin typeface="Liberation Sans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65192" y="3108960"/>
            <a:ext cx="281635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900" b="1">
                <a:solidFill>
                  <a:srgbClr val="18223B"/>
                </a:solidFill>
                <a:latin typeface="Liberation Sans"/>
              </a:defRPr>
            </a:pPr>
            <a:r>
              <a:t>Criadores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0288" y="3703320"/>
            <a:ext cx="3172968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500" b="0">
                <a:solidFill>
                  <a:srgbClr val="62708A"/>
                </a:solidFill>
                <a:latin typeface="Liberation Sans"/>
              </a:defRPr>
            </a:pPr>
            <a:r>
              <a:t>Identidade, conteúdo, portfólio e caminho para parcerias.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59" y="2926080"/>
            <a:ext cx="3575304" cy="2039112"/>
          </a:xfrm>
          <a:prstGeom prst="roundRect">
            <a:avLst>
              <a:gd name="adj" fmla="val 12000"/>
            </a:avLst>
          </a:prstGeom>
          <a:solidFill>
            <a:srgbClr val="F3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9327" y="309067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300" b="1">
                <a:solidFill>
                  <a:srgbClr val="405DF5"/>
                </a:solidFill>
                <a:latin typeface="Liberation Sans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14232" y="3108960"/>
            <a:ext cx="281635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900" b="1">
                <a:solidFill>
                  <a:srgbClr val="18223B"/>
                </a:solidFill>
                <a:latin typeface="Liberation Sans"/>
              </a:defRPr>
            </a:pPr>
            <a:r>
              <a:t>Empresas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7" y="3703320"/>
            <a:ext cx="3172968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500" b="0">
                <a:solidFill>
                  <a:srgbClr val="62708A"/>
                </a:solidFill>
                <a:latin typeface="Liberation Sans"/>
              </a:defRPr>
            </a:pPr>
            <a:r>
              <a:t>Presença própria, relacionamento e contato com criadores.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" y="5650992"/>
            <a:ext cx="10972800" cy="566928"/>
          </a:xfrm>
          <a:prstGeom prst="roundRect">
            <a:avLst>
              <a:gd name="adj" fmla="val 12000"/>
            </a:avLst>
          </a:prstGeom>
          <a:solidFill>
            <a:srgbClr val="F3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648" y="5650992"/>
            <a:ext cx="41148" cy="566928"/>
          </a:xfrm>
          <a:prstGeom prst="rect">
            <a:avLst/>
          </a:prstGeom>
          <a:solidFill>
            <a:srgbClr val="405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6384" y="5760720"/>
            <a:ext cx="10607040" cy="420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320" b="0">
                <a:solidFill>
                  <a:srgbClr val="17266D"/>
                </a:solidFill>
                <a:latin typeface="Liberation Sans"/>
              </a:defRPr>
            </a:pPr>
            <a:r>
              <a:t>Começar com comunidades próximas e negócios locais, antes de disputar alcance nacional.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con-1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4320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05256" y="256032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800" b="1">
                <a:solidFill>
                  <a:srgbClr val="18223B"/>
                </a:solidFill>
                <a:latin typeface="Liberation Sans"/>
              </a:defRPr>
            </a:pPr>
            <a:r>
              <a:t>blessed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33472" y="320040"/>
            <a:ext cx="896112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000" b="1">
                <a:solidFill>
                  <a:srgbClr val="405DF5"/>
                </a:solidFill>
                <a:latin typeface="Liberation Sans"/>
              </a:defRPr>
            </a:pPr>
            <a:r>
              <a:t>O PRODUTO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09944"/>
            <a:ext cx="11000232" cy="10972"/>
          </a:xfrm>
          <a:prstGeom prst="rect">
            <a:avLst/>
          </a:prstGeom>
          <a:solidFill>
            <a:srgbClr val="DCE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6537960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810" b="0">
                <a:solidFill>
                  <a:srgbClr val="62708A"/>
                </a:solidFill>
                <a:latin typeface="Liberation Sans"/>
              </a:defRPr>
            </a:pPr>
            <a:r>
              <a:t>BLESSED  /  NEGÓCIOS  /  22 OUT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01384"/>
            <a:ext cx="78638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1100" b="1">
                <a:solidFill>
                  <a:srgbClr val="405DF5"/>
                </a:solidFill>
                <a:latin typeface="Liberation Sans"/>
              </a:defRPr>
            </a:pPr>
            <a:r>
              <a:t>03 /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841248"/>
            <a:ext cx="1097280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3000" b="1">
                <a:solidFill>
                  <a:srgbClr val="18223B"/>
                </a:solidFill>
                <a:latin typeface="Liberation Sans"/>
              </a:defRPr>
            </a:pPr>
            <a:r>
              <a:t>Uma experiência social já navegável.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975104"/>
            <a:ext cx="108813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600" b="0">
                <a:solidFill>
                  <a:srgbClr val="62708A"/>
                </a:solidFill>
                <a:latin typeface="Liberation Sans"/>
              </a:defRPr>
            </a:pPr>
            <a:r>
              <a:t>A identidade atual é branca e azul, com acesso pela web e instalação na tela inicial.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697480"/>
            <a:ext cx="2834640" cy="859536"/>
          </a:xfrm>
          <a:prstGeom prst="roundRect">
            <a:avLst>
              <a:gd name="adj" fmla="val 12000"/>
            </a:avLst>
          </a:prstGeom>
          <a:solidFill>
            <a:srgbClr val="F3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1" y="2807208"/>
            <a:ext cx="2505456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600" b="1">
                <a:solidFill>
                  <a:srgbClr val="18223B"/>
                </a:solidFill>
                <a:latin typeface="Liberation Sans"/>
              </a:defRPr>
            </a:pPr>
            <a:r>
              <a:t>Início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3127248"/>
            <a:ext cx="2505456" cy="4023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280" b="0">
                <a:solidFill>
                  <a:srgbClr val="62708A"/>
                </a:solidFill>
                <a:latin typeface="Liberation Sans"/>
              </a:defRPr>
            </a:pPr>
            <a:r>
              <a:t>Feed, Momentos e Pensamento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0" y="2697480"/>
            <a:ext cx="2834640" cy="859536"/>
          </a:xfrm>
          <a:prstGeom prst="roundRect">
            <a:avLst>
              <a:gd name="adj" fmla="val 12000"/>
            </a:avLst>
          </a:prstGeom>
          <a:solidFill>
            <a:srgbClr val="F3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22191" y="2807208"/>
            <a:ext cx="2505456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600" b="1">
                <a:solidFill>
                  <a:srgbClr val="18223B"/>
                </a:solidFill>
                <a:latin typeface="Liberation Sans"/>
              </a:defRPr>
            </a:pPr>
            <a:r>
              <a:t>Parceria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22191" y="3127248"/>
            <a:ext cx="2505456" cy="4023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280" b="0">
                <a:solidFill>
                  <a:srgbClr val="62708A"/>
                </a:solidFill>
                <a:latin typeface="Liberation Sans"/>
              </a:defRPr>
            </a:pPr>
            <a:r>
              <a:t>Ganhos, interesses e portfólio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675888"/>
            <a:ext cx="2834640" cy="859536"/>
          </a:xfrm>
          <a:prstGeom prst="roundRect">
            <a:avLst>
              <a:gd name="adj" fmla="val 12000"/>
            </a:avLst>
          </a:prstGeom>
          <a:solidFill>
            <a:srgbClr val="F3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1" y="3785616"/>
            <a:ext cx="2505456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600" b="1">
                <a:solidFill>
                  <a:srgbClr val="18223B"/>
                </a:solidFill>
                <a:latin typeface="Liberation Sans"/>
              </a:defRPr>
            </a:pPr>
            <a:r>
              <a:t>Descobrir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1" y="4105656"/>
            <a:ext cx="2505456" cy="4023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280" b="0">
                <a:solidFill>
                  <a:srgbClr val="62708A"/>
                </a:solidFill>
                <a:latin typeface="Liberation Sans"/>
              </a:defRPr>
            </a:pPr>
            <a:r>
              <a:t>Pessoas e comunidades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0" y="3675888"/>
            <a:ext cx="2834640" cy="859536"/>
          </a:xfrm>
          <a:prstGeom prst="roundRect">
            <a:avLst>
              <a:gd name="adj" fmla="val 12000"/>
            </a:avLst>
          </a:prstGeom>
          <a:solidFill>
            <a:srgbClr val="F3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22191" y="3785616"/>
            <a:ext cx="2505456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600" b="1">
                <a:solidFill>
                  <a:srgbClr val="18223B"/>
                </a:solidFill>
                <a:latin typeface="Liberation Sans"/>
              </a:defRPr>
            </a:pPr>
            <a:r>
              <a:t>Postar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22191" y="4105656"/>
            <a:ext cx="2505456" cy="4023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280" b="0">
                <a:solidFill>
                  <a:srgbClr val="62708A"/>
                </a:solidFill>
                <a:latin typeface="Liberation Sans"/>
              </a:defRPr>
            </a:pPr>
            <a:r>
              <a:t>Fotos, textos e vídeos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654296"/>
            <a:ext cx="2834640" cy="859536"/>
          </a:xfrm>
          <a:prstGeom prst="roundRect">
            <a:avLst>
              <a:gd name="adj" fmla="val 12000"/>
            </a:avLst>
          </a:prstGeom>
          <a:solidFill>
            <a:srgbClr val="F3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1" y="4764024"/>
            <a:ext cx="2505456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600" b="1">
                <a:solidFill>
                  <a:srgbClr val="18223B"/>
                </a:solidFill>
                <a:latin typeface="Liberation Sans"/>
              </a:defRPr>
            </a:pPr>
            <a:r>
              <a:t>Cine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1" y="5084064"/>
            <a:ext cx="2505456" cy="4023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280" b="0">
                <a:solidFill>
                  <a:srgbClr val="62708A"/>
                </a:solidFill>
                <a:latin typeface="Liberation Sans"/>
              </a:defRPr>
            </a:pPr>
            <a:r>
              <a:t>Comunidade e cinema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0" y="4654296"/>
            <a:ext cx="2834640" cy="859536"/>
          </a:xfrm>
          <a:prstGeom prst="roundRect">
            <a:avLst>
              <a:gd name="adj" fmla="val 12000"/>
            </a:avLst>
          </a:prstGeom>
          <a:solidFill>
            <a:srgbClr val="F3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22191" y="4764024"/>
            <a:ext cx="2505456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600" b="1">
                <a:solidFill>
                  <a:srgbClr val="18223B"/>
                </a:solidFill>
                <a:latin typeface="Liberation Sans"/>
              </a:defRPr>
            </a:pPr>
            <a:r>
              <a:t>Games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22191" y="5084064"/>
            <a:ext cx="2505456" cy="4023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280" b="0">
                <a:solidFill>
                  <a:srgbClr val="62708A"/>
                </a:solidFill>
                <a:latin typeface="Liberation Sans"/>
              </a:defRPr>
            </a:pPr>
            <a:r>
              <a:t>Jogos e rankings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56348" y="2007107"/>
            <a:ext cx="4048832" cy="43525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3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home-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2057400"/>
            <a:ext cx="3948248" cy="425196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406640" y="6428232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930" b="0">
                <a:solidFill>
                  <a:srgbClr val="62708A"/>
                </a:solidFill>
                <a:latin typeface="Liberation Sans"/>
              </a:defRPr>
            </a:pPr>
            <a:r>
              <a:t>Recorte da composição do Início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779008"/>
            <a:ext cx="6217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600" b="1">
                <a:solidFill>
                  <a:srgbClr val="405DF5"/>
                </a:solidFill>
                <a:latin typeface="Liberation Sans"/>
              </a:defRPr>
            </a:pPr>
            <a:r>
              <a:t>+ Perfil, chat, notificações e ajustes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con-1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4320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05256" y="256032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800" b="1">
                <a:solidFill>
                  <a:srgbClr val="18223B"/>
                </a:solidFill>
                <a:latin typeface="Liberation Sans"/>
              </a:defRPr>
            </a:pPr>
            <a:r>
              <a:t>blessed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33472" y="320040"/>
            <a:ext cx="896112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000" b="1">
                <a:solidFill>
                  <a:srgbClr val="405DF5"/>
                </a:solidFill>
                <a:latin typeface="Liberation Sans"/>
              </a:defRPr>
            </a:pPr>
            <a:r>
              <a:t>PARA QUEM USA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09944"/>
            <a:ext cx="11000232" cy="10972"/>
          </a:xfrm>
          <a:prstGeom prst="rect">
            <a:avLst/>
          </a:prstGeom>
          <a:solidFill>
            <a:srgbClr val="DCE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6537960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810" b="0">
                <a:solidFill>
                  <a:srgbClr val="62708A"/>
                </a:solidFill>
                <a:latin typeface="Liberation Sans"/>
              </a:defRPr>
            </a:pPr>
            <a:r>
              <a:t>BLESSED  /  NEGÓCIOS  /  22 OUT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01384"/>
            <a:ext cx="78638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1100" b="1">
                <a:solidFill>
                  <a:srgbClr val="405DF5"/>
                </a:solidFill>
                <a:latin typeface="Liberation Sans"/>
              </a:defRPr>
            </a:pPr>
            <a:r>
              <a:t>04 /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841248"/>
            <a:ext cx="662940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3000" b="1">
                <a:solidFill>
                  <a:srgbClr val="18223B"/>
                </a:solidFill>
                <a:latin typeface="Liberation Sans"/>
              </a:defRPr>
            </a:pPr>
            <a:r>
              <a:t>Publicar é simples.</a:t>
            </a:r>
          </a:p>
          <a:p>
            <a:pPr>
              <a:lnSpc>
                <a:spcPct val="108000"/>
              </a:lnSpc>
              <a:spcAft>
                <a:spcPts val="0"/>
              </a:spcAft>
              <a:defRPr sz="3000" b="1">
                <a:solidFill>
                  <a:srgbClr val="18223B"/>
                </a:solidFill>
                <a:latin typeface="Liberation Sans"/>
              </a:defRPr>
            </a:pPr>
            <a:r>
              <a:t>A conversa continua no feed.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975104"/>
            <a:ext cx="62179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600" b="0">
                <a:solidFill>
                  <a:srgbClr val="62708A"/>
                </a:solidFill>
                <a:latin typeface="Liberation Sans"/>
              </a:defRPr>
            </a:pPr>
            <a:r>
              <a:t>Foto, pensamento e vídeo convivem com comentários, curtidas, salvos e compartilhamento.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761488"/>
            <a:ext cx="68580" cy="292608"/>
          </a:xfrm>
          <a:prstGeom prst="rect">
            <a:avLst/>
          </a:prstGeom>
          <a:solidFill>
            <a:srgbClr val="405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715768"/>
            <a:ext cx="57881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800" b="1">
                <a:solidFill>
                  <a:srgbClr val="18223B"/>
                </a:solidFill>
                <a:latin typeface="Liberation Sans"/>
              </a:defRPr>
            </a:pPr>
            <a:r>
              <a:t>Feed e Seguindo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099816"/>
            <a:ext cx="5788152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550" b="0">
                <a:solidFill>
                  <a:srgbClr val="62708A"/>
                </a:solidFill>
                <a:latin typeface="Liberation Sans"/>
              </a:defRPr>
            </a:pPr>
            <a:r>
              <a:t>Acompanhar conteúdo e pessoas conhecidas.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712463"/>
            <a:ext cx="68580" cy="292608"/>
          </a:xfrm>
          <a:prstGeom prst="rect">
            <a:avLst/>
          </a:prstGeom>
          <a:solidFill>
            <a:srgbClr val="405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3666744"/>
            <a:ext cx="57881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800" b="1">
                <a:solidFill>
                  <a:srgbClr val="18223B"/>
                </a:solidFill>
                <a:latin typeface="Liberation Sans"/>
              </a:defRPr>
            </a:pPr>
            <a:r>
              <a:t>Pensamentos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7" y="4050791"/>
            <a:ext cx="5788152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550" b="0">
                <a:solidFill>
                  <a:srgbClr val="62708A"/>
                </a:solidFill>
                <a:latin typeface="Liberation Sans"/>
              </a:defRPr>
            </a:pPr>
            <a:r>
              <a:t>Prévia de três linhas e até 140 caracteres; o texto completo abre em “Ler mais”.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663440"/>
            <a:ext cx="68580" cy="292608"/>
          </a:xfrm>
          <a:prstGeom prst="rect">
            <a:avLst/>
          </a:prstGeom>
          <a:solidFill>
            <a:srgbClr val="405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7" y="4617720"/>
            <a:ext cx="57881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800" b="1">
                <a:solidFill>
                  <a:srgbClr val="18223B"/>
                </a:solidFill>
                <a:latin typeface="Liberation Sans"/>
              </a:defRPr>
            </a:pPr>
            <a:r>
              <a:t>Interação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7" y="5001768"/>
            <a:ext cx="5788152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550" b="0">
                <a:solidFill>
                  <a:srgbClr val="62708A"/>
                </a:solidFill>
                <a:latin typeface="Liberation Sans"/>
              </a:defRPr>
            </a:pPr>
            <a:r>
              <a:t>Comentar, salvar, compartilhar e visitar perfis.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82028" y="1412748"/>
            <a:ext cx="2249424" cy="24147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3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home-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463040"/>
            <a:ext cx="2148840" cy="231413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132320" y="3896047"/>
            <a:ext cx="21488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930" b="0">
                <a:solidFill>
                  <a:srgbClr val="62708A"/>
                </a:solidFill>
                <a:latin typeface="Liberation Sans"/>
              </a:defRPr>
            </a:pPr>
            <a:r>
              <a:t>Início • recorte real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04604" y="1412748"/>
            <a:ext cx="2130552" cy="449364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3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though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4896" y="1463040"/>
            <a:ext cx="2029968" cy="439305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454896" y="5974970"/>
            <a:ext cx="202996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930" b="0">
                <a:solidFill>
                  <a:srgbClr val="62708A"/>
                </a:solidFill>
                <a:latin typeface="Liberation Sans"/>
              </a:defRPr>
            </a:pPr>
            <a:r>
              <a:t>Pensamentos • dados públicos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con-1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4320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05256" y="256032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800" b="1">
                <a:solidFill>
                  <a:srgbClr val="18223B"/>
                </a:solidFill>
                <a:latin typeface="Liberation Sans"/>
              </a:defRPr>
            </a:pPr>
            <a:r>
              <a:t>blessed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33472" y="320040"/>
            <a:ext cx="896112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000" b="1">
                <a:solidFill>
                  <a:srgbClr val="405DF5"/>
                </a:solidFill>
                <a:latin typeface="Liberation Sans"/>
              </a:defRPr>
            </a:pPr>
            <a:r>
              <a:t>ROTINA E RETENÇÃO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09944"/>
            <a:ext cx="11000232" cy="10972"/>
          </a:xfrm>
          <a:prstGeom prst="rect">
            <a:avLst/>
          </a:prstGeom>
          <a:solidFill>
            <a:srgbClr val="DCE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6537960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810" b="0">
                <a:solidFill>
                  <a:srgbClr val="62708A"/>
                </a:solidFill>
                <a:latin typeface="Liberation Sans"/>
              </a:defRPr>
            </a:pPr>
            <a:r>
              <a:t>BLESSED  /  NEGÓCIOS  /  22 OUT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01384"/>
            <a:ext cx="78638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1100" b="1">
                <a:solidFill>
                  <a:srgbClr val="405DF5"/>
                </a:solidFill>
                <a:latin typeface="Liberation Sans"/>
              </a:defRPr>
            </a:pPr>
            <a:r>
              <a:t>05 /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841248"/>
            <a:ext cx="662940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3000" b="1">
                <a:solidFill>
                  <a:srgbClr val="18223B"/>
                </a:solidFill>
                <a:latin typeface="Liberation Sans"/>
              </a:defRPr>
            </a:pPr>
            <a:r>
              <a:t>Momentos para estar perto,</a:t>
            </a:r>
          </a:p>
          <a:p>
            <a:pPr>
              <a:lnSpc>
                <a:spcPct val="108000"/>
              </a:lnSpc>
              <a:spcAft>
                <a:spcPts val="0"/>
              </a:spcAft>
              <a:defRPr sz="3000" b="1">
                <a:solidFill>
                  <a:srgbClr val="18223B"/>
                </a:solidFill>
                <a:latin typeface="Liberation Sans"/>
              </a:defRPr>
            </a:pPr>
            <a:r>
              <a:t>sem exigir uma grande produção.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975104"/>
            <a:ext cx="62179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600" b="0">
                <a:solidFill>
                  <a:srgbClr val="62708A"/>
                </a:solidFill>
                <a:latin typeface="Liberation Sans"/>
              </a:defRPr>
            </a:pPr>
            <a:r>
              <a:t>Conteúdo temporário, navegação por toque e relação com a comunidade.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761488"/>
            <a:ext cx="68580" cy="292608"/>
          </a:xfrm>
          <a:prstGeom prst="rect">
            <a:avLst/>
          </a:prstGeom>
          <a:solidFill>
            <a:srgbClr val="405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715768"/>
            <a:ext cx="57881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800" b="1">
                <a:solidFill>
                  <a:srgbClr val="18223B"/>
                </a:solidFill>
                <a:latin typeface="Liberation Sans"/>
              </a:defRPr>
            </a:pPr>
            <a:r>
              <a:t>Publicação e privacidade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099816"/>
            <a:ext cx="5788152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550" b="0">
                <a:solidFill>
                  <a:srgbClr val="62708A"/>
                </a:solidFill>
                <a:latin typeface="Liberation Sans"/>
              </a:defRPr>
            </a:pPr>
            <a:r>
              <a:t>Fotos e vídeos; público ou melhores amigos, conforme a configuração.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666744"/>
            <a:ext cx="68580" cy="292608"/>
          </a:xfrm>
          <a:prstGeom prst="rect">
            <a:avLst/>
          </a:prstGeom>
          <a:solidFill>
            <a:srgbClr val="405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3621024"/>
            <a:ext cx="57881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800" b="1">
                <a:solidFill>
                  <a:srgbClr val="18223B"/>
                </a:solidFill>
                <a:latin typeface="Liberation Sans"/>
              </a:defRPr>
            </a:pPr>
            <a:r>
              <a:t>Controle na visualização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7" y="4005072"/>
            <a:ext cx="5788152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550" b="0">
                <a:solidFill>
                  <a:srgbClr val="62708A"/>
                </a:solidFill>
                <a:latin typeface="Liberation Sans"/>
              </a:defRPr>
            </a:pPr>
            <a:r>
              <a:t>Pausar ao segurar, som e navegação lateral.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572000"/>
            <a:ext cx="68580" cy="292608"/>
          </a:xfrm>
          <a:prstGeom prst="rect">
            <a:avLst/>
          </a:prstGeom>
          <a:solidFill>
            <a:srgbClr val="405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7" y="4526280"/>
            <a:ext cx="57881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800" b="1">
                <a:solidFill>
                  <a:srgbClr val="18223B"/>
                </a:solidFill>
                <a:latin typeface="Liberation Sans"/>
              </a:defRPr>
            </a:pPr>
            <a:r>
              <a:t>Visão do autor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7" y="4910328"/>
            <a:ext cx="5788152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550" b="0">
                <a:solidFill>
                  <a:srgbClr val="62708A"/>
                </a:solidFill>
                <a:latin typeface="Liberation Sans"/>
              </a:defRPr>
            </a:pPr>
            <a:r>
              <a:t>Quem viu, curtidas e revisualizações por pessoa.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3276" y="1367028"/>
            <a:ext cx="2044225" cy="43068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3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moments-men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68" y="1417320"/>
            <a:ext cx="1943641" cy="42062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973568" y="5742431"/>
            <a:ext cx="212140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930" b="0">
                <a:solidFill>
                  <a:srgbClr val="62708A"/>
                </a:solidFill>
                <a:latin typeface="Liberation Sans"/>
              </a:defRPr>
            </a:pPr>
            <a:r>
              <a:t>Interface atual • estado vazio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" y="5824728"/>
            <a:ext cx="10972800" cy="411480"/>
          </a:xfrm>
          <a:prstGeom prst="roundRect">
            <a:avLst>
              <a:gd name="adj" fmla="val 12000"/>
            </a:avLst>
          </a:prstGeom>
          <a:solidFill>
            <a:srgbClr val="F3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648" y="5824728"/>
            <a:ext cx="41148" cy="411480"/>
          </a:xfrm>
          <a:prstGeom prst="rect">
            <a:avLst/>
          </a:prstGeom>
          <a:solidFill>
            <a:srgbClr val="405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6384" y="5934456"/>
            <a:ext cx="1060704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320" b="0">
                <a:solidFill>
                  <a:srgbClr val="17266D"/>
                </a:solidFill>
                <a:latin typeface="Liberation Sans"/>
              </a:defRPr>
            </a:pPr>
            <a:r>
              <a:t>Métricas servem para entender atenção — sem inventar alcance.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con-1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4320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05256" y="256032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800" b="1">
                <a:solidFill>
                  <a:srgbClr val="18223B"/>
                </a:solidFill>
                <a:latin typeface="Liberation Sans"/>
              </a:defRPr>
            </a:pPr>
            <a:r>
              <a:t>blessed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33472" y="320040"/>
            <a:ext cx="896112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000" b="1">
                <a:solidFill>
                  <a:srgbClr val="405DF5"/>
                </a:solidFill>
                <a:latin typeface="Liberation Sans"/>
              </a:defRPr>
            </a:pPr>
            <a:r>
              <a:t>VÍDEO COM DOIS FORMATOS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09944"/>
            <a:ext cx="11000232" cy="10972"/>
          </a:xfrm>
          <a:prstGeom prst="rect">
            <a:avLst/>
          </a:prstGeom>
          <a:solidFill>
            <a:srgbClr val="DCE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6537960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810" b="0">
                <a:solidFill>
                  <a:srgbClr val="62708A"/>
                </a:solidFill>
                <a:latin typeface="Liberation Sans"/>
              </a:defRPr>
            </a:pPr>
            <a:r>
              <a:t>BLESSED  /  NEGÓCIOS  /  22 OUT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01384"/>
            <a:ext cx="78638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1100" b="1">
                <a:solidFill>
                  <a:srgbClr val="405DF5"/>
                </a:solidFill>
                <a:latin typeface="Liberation Sans"/>
              </a:defRPr>
            </a:pPr>
            <a:r>
              <a:t>06 /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841248"/>
            <a:ext cx="1097280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3000" b="1">
                <a:solidFill>
                  <a:srgbClr val="18223B"/>
                </a:solidFill>
                <a:latin typeface="Liberation Sans"/>
              </a:defRPr>
            </a:pPr>
            <a:r>
              <a:t>Cine: da descoberta rápida</a:t>
            </a:r>
          </a:p>
          <a:p>
            <a:pPr>
              <a:lnSpc>
                <a:spcPct val="108000"/>
              </a:lnSpc>
              <a:spcAft>
                <a:spcPts val="0"/>
              </a:spcAft>
              <a:defRPr sz="3000" b="1">
                <a:solidFill>
                  <a:srgbClr val="18223B"/>
                </a:solidFill>
                <a:latin typeface="Liberation Sans"/>
              </a:defRPr>
            </a:pPr>
            <a:r>
              <a:t>a produções com identidade própria.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975104"/>
            <a:ext cx="108813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600" b="0">
                <a:solidFill>
                  <a:srgbClr val="62708A"/>
                </a:solidFill>
                <a:latin typeface="Liberation Sans"/>
              </a:defRPr>
            </a:pPr>
            <a:r>
              <a:t>Vídeos da comunidade e catálogo editorial têm propostas diferentes.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715768"/>
            <a:ext cx="5577840" cy="1143000"/>
          </a:xfrm>
          <a:prstGeom prst="roundRect">
            <a:avLst>
              <a:gd name="adj" fmla="val 12000"/>
            </a:avLst>
          </a:prstGeom>
          <a:solidFill>
            <a:srgbClr val="F3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862072"/>
            <a:ext cx="5193792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700" b="1">
                <a:solidFill>
                  <a:srgbClr val="18223B"/>
                </a:solidFill>
                <a:latin typeface="Liberation Sans"/>
              </a:defRPr>
            </a:pPr>
            <a:r>
              <a:t>Comunidade · 9:16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264408"/>
            <a:ext cx="5175503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450" b="0">
                <a:solidFill>
                  <a:srgbClr val="62708A"/>
                </a:solidFill>
                <a:latin typeface="Liberation Sans"/>
              </a:defRPr>
            </a:pPr>
            <a:r>
              <a:t>Vídeos verticais curtos, perfil do autor e interação.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995928"/>
            <a:ext cx="5577840" cy="1143000"/>
          </a:xfrm>
          <a:prstGeom prst="roundRect">
            <a:avLst>
              <a:gd name="adj" fmla="val 12000"/>
            </a:avLst>
          </a:prstGeom>
          <a:solidFill>
            <a:srgbClr val="F3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4142232"/>
            <a:ext cx="5193792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700" b="1">
                <a:solidFill>
                  <a:srgbClr val="18223B"/>
                </a:solidFill>
                <a:latin typeface="Liberation Sans"/>
              </a:defRPr>
            </a:pPr>
            <a:r>
              <a:t>Cinema · 16:9 / 21:9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7" y="4544568"/>
            <a:ext cx="5175503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450" b="0">
                <a:solidFill>
                  <a:srgbClr val="62708A"/>
                </a:solidFill>
                <a:latin typeface="Liberation Sans"/>
              </a:defRPr>
            </a:pPr>
            <a:r>
              <a:t>Capas, sinopse, produção, capítulos e data de estreia.</a:t>
            </a:r>
          </a:p>
        </p:txBody>
      </p:sp>
      <p:pic>
        <p:nvPicPr>
          <p:cNvPr id="16" name="Picture 15" descr="cine-forma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2706624"/>
            <a:ext cx="4480560" cy="86357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995160" y="3689067"/>
            <a:ext cx="44805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930" b="0">
                <a:solidFill>
                  <a:srgbClr val="62708A"/>
                </a:solidFill>
                <a:latin typeface="Liberation Sans"/>
              </a:defRPr>
            </a:pPr>
            <a:r>
              <a:t>Seletor real de formatos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0628" y="3790188"/>
            <a:ext cx="1647536" cy="15179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3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ine-inf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0" y="3840480"/>
            <a:ext cx="1546952" cy="14173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360920" y="5376672"/>
            <a:ext cx="374903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930" b="0">
                <a:solidFill>
                  <a:srgbClr val="62708A"/>
                </a:solidFill>
                <a:latin typeface="Liberation Sans"/>
              </a:defRPr>
            </a:pPr>
            <a:r>
              <a:t>Metadados de uma produção publicada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" y="5696712"/>
            <a:ext cx="10972800" cy="548640"/>
          </a:xfrm>
          <a:prstGeom prst="roundRect">
            <a:avLst>
              <a:gd name="adj" fmla="val 12000"/>
            </a:avLst>
          </a:prstGeom>
          <a:solidFill>
            <a:srgbClr val="F3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8" y="5696712"/>
            <a:ext cx="41148" cy="548640"/>
          </a:xfrm>
          <a:prstGeom prst="rect">
            <a:avLst/>
          </a:prstGeom>
          <a:solidFill>
            <a:srgbClr val="405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5806440"/>
            <a:ext cx="10607040" cy="4023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320" b="0">
                <a:solidFill>
                  <a:srgbClr val="17266D"/>
                </a:solidFill>
                <a:latin typeface="Liberation Sans"/>
              </a:defRPr>
            </a:pPr>
            <a:r>
              <a:t>Cinema: canais controlados pela administração. Trailers gratuitos; assinatura de R$ 5/mês ainda depende da ativação da cobrança.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con-1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4320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05256" y="256032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800" b="1">
                <a:solidFill>
                  <a:srgbClr val="18223B"/>
                </a:solidFill>
                <a:latin typeface="Liberation Sans"/>
              </a:defRPr>
            </a:pPr>
            <a:r>
              <a:t>blessed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33472" y="320040"/>
            <a:ext cx="896112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000" b="1">
                <a:solidFill>
                  <a:srgbClr val="405DF5"/>
                </a:solidFill>
                <a:latin typeface="Liberation Sans"/>
              </a:defRPr>
            </a:pPr>
            <a:r>
              <a:t>RELACIONAMENTO DIRETO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09944"/>
            <a:ext cx="11000232" cy="10972"/>
          </a:xfrm>
          <a:prstGeom prst="rect">
            <a:avLst/>
          </a:prstGeom>
          <a:solidFill>
            <a:srgbClr val="DCE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6537960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810" b="0">
                <a:solidFill>
                  <a:srgbClr val="62708A"/>
                </a:solidFill>
                <a:latin typeface="Liberation Sans"/>
              </a:defRPr>
            </a:pPr>
            <a:r>
              <a:t>BLESSED  /  NEGÓCIOS  /  22 OUT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01384"/>
            <a:ext cx="78638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1100" b="1">
                <a:solidFill>
                  <a:srgbClr val="405DF5"/>
                </a:solidFill>
                <a:latin typeface="Liberation Sans"/>
              </a:defRPr>
            </a:pPr>
            <a:r>
              <a:t>07 /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841248"/>
            <a:ext cx="662940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3000" b="1">
                <a:solidFill>
                  <a:srgbClr val="18223B"/>
                </a:solidFill>
                <a:latin typeface="Liberation Sans"/>
              </a:defRPr>
            </a:pPr>
            <a:r>
              <a:t>Da publicação para a conversa,</a:t>
            </a:r>
          </a:p>
          <a:p>
            <a:pPr>
              <a:lnSpc>
                <a:spcPct val="108000"/>
              </a:lnSpc>
              <a:spcAft>
                <a:spcPts val="0"/>
              </a:spcAft>
              <a:defRPr sz="3000" b="1">
                <a:solidFill>
                  <a:srgbClr val="18223B"/>
                </a:solidFill>
                <a:latin typeface="Liberation Sans"/>
              </a:defRPr>
            </a:pPr>
            <a:r>
              <a:t>sem sair do Blessed.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975104"/>
            <a:ext cx="62179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600" b="0">
                <a:solidFill>
                  <a:srgbClr val="62708A"/>
                </a:solidFill>
                <a:latin typeface="Liberation Sans"/>
              </a:defRPr>
            </a:pPr>
            <a:r>
              <a:t>O chat cria continuidade para amizades, atendimento e negociações iniciais.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761488"/>
            <a:ext cx="68580" cy="292608"/>
          </a:xfrm>
          <a:prstGeom prst="rect">
            <a:avLst/>
          </a:prstGeom>
          <a:solidFill>
            <a:srgbClr val="405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715768"/>
            <a:ext cx="57881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800" b="1">
                <a:solidFill>
                  <a:srgbClr val="18223B"/>
                </a:solidFill>
                <a:latin typeface="Liberation Sans"/>
              </a:defRPr>
            </a:pPr>
            <a:r>
              <a:t>Mensagens e mídia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099816"/>
            <a:ext cx="5788152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550" b="0">
                <a:solidFill>
                  <a:srgbClr val="62708A"/>
                </a:solidFill>
                <a:latin typeface="Liberation Sans"/>
              </a:defRPr>
            </a:pPr>
            <a:r>
              <a:t>Texto, fotos e áudios com controles próprios.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666744"/>
            <a:ext cx="68580" cy="292608"/>
          </a:xfrm>
          <a:prstGeom prst="rect">
            <a:avLst/>
          </a:prstGeom>
          <a:solidFill>
            <a:srgbClr val="405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3621024"/>
            <a:ext cx="57881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800" b="1">
                <a:solidFill>
                  <a:srgbClr val="18223B"/>
                </a:solidFill>
                <a:latin typeface="Liberation Sans"/>
              </a:defRPr>
            </a:pPr>
            <a:r>
              <a:t>Recursos de conversa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7" y="4005072"/>
            <a:ext cx="5788152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550" b="0">
                <a:solidFill>
                  <a:srgbClr val="62708A"/>
                </a:solidFill>
                <a:latin typeface="Liberation Sans"/>
              </a:defRPr>
            </a:pPr>
            <a:r>
              <a:t>Resposta, leitura, bloqueio, denúncia e chamar atenção.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572000"/>
            <a:ext cx="68580" cy="292608"/>
          </a:xfrm>
          <a:prstGeom prst="rect">
            <a:avLst/>
          </a:prstGeom>
          <a:solidFill>
            <a:srgbClr val="405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7" y="4526280"/>
            <a:ext cx="57881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800" b="1">
                <a:solidFill>
                  <a:srgbClr val="18223B"/>
                </a:solidFill>
                <a:latin typeface="Liberation Sans"/>
              </a:defRPr>
            </a:pPr>
            <a:r>
              <a:t>Voz e atendimento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7" y="4910328"/>
            <a:ext cx="5788152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550" b="0">
                <a:solidFill>
                  <a:srgbClr val="62708A"/>
                </a:solidFill>
                <a:latin typeface="Liberation Sans"/>
              </a:defRPr>
            </a:pPr>
            <a:r>
              <a:t>Interface de chamada de voz e atalhos comerciais; qualidade deve ser validada em redes reais.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3276" y="1367028"/>
            <a:ext cx="2044225" cy="43068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3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68" y="1417320"/>
            <a:ext cx="1943641" cy="42062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973568" y="5742431"/>
            <a:ext cx="212140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930" b="0">
                <a:solidFill>
                  <a:srgbClr val="62708A"/>
                </a:solidFill>
                <a:latin typeface="Liberation Sans"/>
              </a:defRPr>
            </a:pPr>
            <a:r>
              <a:t>Interface atual • estado vazio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" y="5824728"/>
            <a:ext cx="10972800" cy="411480"/>
          </a:xfrm>
          <a:prstGeom prst="roundRect">
            <a:avLst>
              <a:gd name="adj" fmla="val 12000"/>
            </a:avLst>
          </a:prstGeom>
          <a:solidFill>
            <a:srgbClr val="F3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648" y="5824728"/>
            <a:ext cx="41148" cy="411480"/>
          </a:xfrm>
          <a:prstGeom prst="rect">
            <a:avLst/>
          </a:prstGeom>
          <a:solidFill>
            <a:srgbClr val="405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6384" y="5934456"/>
            <a:ext cx="1060704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320" b="0">
                <a:solidFill>
                  <a:srgbClr val="17266D"/>
                </a:solidFill>
                <a:latin typeface="Liberation Sans"/>
              </a:defRPr>
            </a:pPr>
            <a:r>
              <a:t>Conversa exibida vazia. Nenhuma mensagem privada foi acessada.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con-1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4320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05256" y="256032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800" b="1">
                <a:solidFill>
                  <a:srgbClr val="18223B"/>
                </a:solidFill>
                <a:latin typeface="Liberation Sans"/>
              </a:defRPr>
            </a:pPr>
            <a:r>
              <a:t>blessed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33472" y="320040"/>
            <a:ext cx="896112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000" b="1">
                <a:solidFill>
                  <a:srgbClr val="405DF5"/>
                </a:solidFill>
                <a:latin typeface="Liberation Sans"/>
              </a:defRPr>
            </a:pPr>
            <a:r>
              <a:t>IDENTIDADE E DESCOBERTA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09944"/>
            <a:ext cx="11000232" cy="10972"/>
          </a:xfrm>
          <a:prstGeom prst="rect">
            <a:avLst/>
          </a:prstGeom>
          <a:solidFill>
            <a:srgbClr val="DCE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6537960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810" b="0">
                <a:solidFill>
                  <a:srgbClr val="62708A"/>
                </a:solidFill>
                <a:latin typeface="Liberation Sans"/>
              </a:defRPr>
            </a:pPr>
            <a:r>
              <a:t>BLESSED  /  NEGÓCIOS  /  22 OUT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01384"/>
            <a:ext cx="78638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1100" b="1">
                <a:solidFill>
                  <a:srgbClr val="405DF5"/>
                </a:solidFill>
                <a:latin typeface="Liberation Sans"/>
              </a:defRPr>
            </a:pPr>
            <a:r>
              <a:t>08 /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841248"/>
            <a:ext cx="662940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3000" b="1">
                <a:solidFill>
                  <a:srgbClr val="18223B"/>
                </a:solidFill>
                <a:latin typeface="Liberation Sans"/>
              </a:defRPr>
            </a:pPr>
            <a:r>
              <a:t>Perfis que conectam.</a:t>
            </a:r>
          </a:p>
          <a:p>
            <a:pPr>
              <a:lnSpc>
                <a:spcPct val="108000"/>
              </a:lnSpc>
              <a:spcAft>
                <a:spcPts val="0"/>
              </a:spcAft>
              <a:defRPr sz="3000" b="1">
                <a:solidFill>
                  <a:srgbClr val="18223B"/>
                </a:solidFill>
                <a:latin typeface="Liberation Sans"/>
              </a:defRPr>
            </a:pPr>
            <a:r>
              <a:t>Empresas com presença.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975104"/>
            <a:ext cx="62179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600" b="0">
                <a:solidFill>
                  <a:srgbClr val="62708A"/>
                </a:solidFill>
                <a:latin typeface="Liberation Sans"/>
              </a:defRPr>
            </a:pPr>
            <a:r>
              <a:t>Perfis públicos, busca e informações de contato ajudam a transformar interesse em relacionamento.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761488"/>
            <a:ext cx="68580" cy="292608"/>
          </a:xfrm>
          <a:prstGeom prst="rect">
            <a:avLst/>
          </a:prstGeom>
          <a:solidFill>
            <a:srgbClr val="405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715768"/>
            <a:ext cx="57881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800" b="1">
                <a:solidFill>
                  <a:srgbClr val="18223B"/>
                </a:solidFill>
                <a:latin typeface="Liberation Sans"/>
              </a:defRPr>
            </a:pPr>
            <a:r>
              <a:t>Perfil pessoal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099816"/>
            <a:ext cx="5788152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550" b="0">
                <a:solidFill>
                  <a:srgbClr val="62708A"/>
                </a:solidFill>
                <a:latin typeface="Liberation Sans"/>
              </a:defRPr>
            </a:pPr>
            <a:r>
              <a:t>Foto, capa, biografia, publicações, seguidores e contatos sociais.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712463"/>
            <a:ext cx="68580" cy="292608"/>
          </a:xfrm>
          <a:prstGeom prst="rect">
            <a:avLst/>
          </a:prstGeom>
          <a:solidFill>
            <a:srgbClr val="405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3666744"/>
            <a:ext cx="57881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800" b="1">
                <a:solidFill>
                  <a:srgbClr val="18223B"/>
                </a:solidFill>
                <a:latin typeface="Liberation Sans"/>
              </a:defRPr>
            </a:pPr>
            <a:r>
              <a:t>Conta de empresa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7" y="4050791"/>
            <a:ext cx="5788152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550" b="0">
                <a:solidFill>
                  <a:srgbClr val="62708A"/>
                </a:solidFill>
                <a:latin typeface="Liberation Sans"/>
              </a:defRPr>
            </a:pPr>
            <a:r>
              <a:t>Categoria, endereço/horário e canais de contato, quando informados.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663440"/>
            <a:ext cx="68580" cy="292608"/>
          </a:xfrm>
          <a:prstGeom prst="rect">
            <a:avLst/>
          </a:prstGeom>
          <a:solidFill>
            <a:srgbClr val="405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7" y="4617720"/>
            <a:ext cx="57881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800" b="1">
                <a:solidFill>
                  <a:srgbClr val="18223B"/>
                </a:solidFill>
                <a:latin typeface="Liberation Sans"/>
              </a:defRPr>
            </a:pPr>
            <a:r>
              <a:t>Privacidade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7" y="5001768"/>
            <a:ext cx="5788152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550" b="0">
                <a:solidFill>
                  <a:srgbClr val="62708A"/>
                </a:solidFill>
                <a:latin typeface="Liberation Sans"/>
              </a:defRPr>
            </a:pPr>
            <a:r>
              <a:t>Configurações de perfil, pedidos para seguir e melhores amigos.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09460" y="1394460"/>
            <a:ext cx="2112264" cy="445406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3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prof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9752" y="1444752"/>
            <a:ext cx="2011680" cy="43534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159752" y="5917105"/>
            <a:ext cx="2011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930" b="0">
                <a:solidFill>
                  <a:srgbClr val="62708A"/>
                </a:solidFill>
                <a:latin typeface="Liberation Sans"/>
              </a:defRPr>
            </a:pPr>
            <a:r>
              <a:t>Captura atual da interface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32036" y="1394460"/>
            <a:ext cx="2112264" cy="445406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3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busine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2328" y="1444752"/>
            <a:ext cx="2011680" cy="435348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482328" y="5917105"/>
            <a:ext cx="2011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930" b="0">
                <a:solidFill>
                  <a:srgbClr val="62708A"/>
                </a:solidFill>
                <a:latin typeface="Liberation Sans"/>
              </a:defRPr>
            </a:pPr>
            <a:r>
              <a:t>Captura atual da interface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con-1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4320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05256" y="256032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800" b="1">
                <a:solidFill>
                  <a:srgbClr val="18223B"/>
                </a:solidFill>
                <a:latin typeface="Liberation Sans"/>
              </a:defRPr>
            </a:pPr>
            <a:r>
              <a:t>blessed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33472" y="320040"/>
            <a:ext cx="896112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000" b="1">
                <a:solidFill>
                  <a:srgbClr val="405DF5"/>
                </a:solidFill>
                <a:latin typeface="Liberation Sans"/>
              </a:defRPr>
            </a:pPr>
            <a:r>
              <a:t>PARTICIPAÇÃO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09944"/>
            <a:ext cx="11000232" cy="10972"/>
          </a:xfrm>
          <a:prstGeom prst="rect">
            <a:avLst/>
          </a:prstGeom>
          <a:solidFill>
            <a:srgbClr val="DCE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6537960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810" b="0">
                <a:solidFill>
                  <a:srgbClr val="62708A"/>
                </a:solidFill>
                <a:latin typeface="Liberation Sans"/>
              </a:defRPr>
            </a:pPr>
            <a:r>
              <a:t>BLESSED  /  NEGÓCIOS  /  22 OUT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01384"/>
            <a:ext cx="78638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1100" b="1">
                <a:solidFill>
                  <a:srgbClr val="405DF5"/>
                </a:solidFill>
                <a:latin typeface="Liberation Sans"/>
              </a:defRPr>
            </a:pPr>
            <a:r>
              <a:t>09 /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841248"/>
            <a:ext cx="662940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3000" b="1">
                <a:solidFill>
                  <a:srgbClr val="18223B"/>
                </a:solidFill>
                <a:latin typeface="Liberation Sans"/>
              </a:defRPr>
            </a:pPr>
            <a:r>
              <a:t>Games e ranking dão</a:t>
            </a:r>
          </a:p>
          <a:p>
            <a:pPr>
              <a:lnSpc>
                <a:spcPct val="108000"/>
              </a:lnSpc>
              <a:spcAft>
                <a:spcPts val="0"/>
              </a:spcAft>
              <a:defRPr sz="3000" b="1">
                <a:solidFill>
                  <a:srgbClr val="18223B"/>
                </a:solidFill>
                <a:latin typeface="Liberation Sans"/>
              </a:defRPr>
            </a:pPr>
            <a:r>
              <a:t>novos motivos para voltar.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975104"/>
            <a:ext cx="62179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600" b="0">
                <a:solidFill>
                  <a:srgbClr val="62708A"/>
                </a:solidFill>
                <a:latin typeface="Liberation Sans"/>
              </a:defRPr>
            </a:pPr>
            <a:r>
              <a:t>Mecânicas sociais para participação recorrente, não promessa de resultado automático.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761488"/>
            <a:ext cx="68580" cy="292608"/>
          </a:xfrm>
          <a:prstGeom prst="rect">
            <a:avLst/>
          </a:prstGeom>
          <a:solidFill>
            <a:srgbClr val="405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715768"/>
            <a:ext cx="57881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800" b="1">
                <a:solidFill>
                  <a:srgbClr val="18223B"/>
                </a:solidFill>
                <a:latin typeface="Liberation Sans"/>
              </a:defRPr>
            </a:pPr>
            <a:r>
              <a:t>Games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099816"/>
            <a:ext cx="5788152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550" b="0">
                <a:solidFill>
                  <a:srgbClr val="62708A"/>
                </a:solidFill>
                <a:latin typeface="Liberation Sans"/>
              </a:defRPr>
            </a:pPr>
            <a:r>
              <a:t>Biblioteca de jogos, desafios e ranking com pontuação.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712463"/>
            <a:ext cx="68580" cy="292608"/>
          </a:xfrm>
          <a:prstGeom prst="rect">
            <a:avLst/>
          </a:prstGeom>
          <a:solidFill>
            <a:srgbClr val="405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3666744"/>
            <a:ext cx="57881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800" b="1">
                <a:solidFill>
                  <a:srgbClr val="18223B"/>
                </a:solidFill>
                <a:latin typeface="Liberation Sans"/>
              </a:defRPr>
            </a:pPr>
            <a:r>
              <a:t>Comunidade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7" y="4050791"/>
            <a:ext cx="5788152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550" b="0">
                <a:solidFill>
                  <a:srgbClr val="62708A"/>
                </a:solidFill>
                <a:latin typeface="Liberation Sans"/>
              </a:defRPr>
            </a:pPr>
            <a:r>
              <a:t>Interações valorizam participação no ranking mensal.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663440"/>
            <a:ext cx="68580" cy="292608"/>
          </a:xfrm>
          <a:prstGeom prst="rect">
            <a:avLst/>
          </a:prstGeom>
          <a:solidFill>
            <a:srgbClr val="405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7" y="4617720"/>
            <a:ext cx="57881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800" b="1">
                <a:solidFill>
                  <a:srgbClr val="18223B"/>
                </a:solidFill>
                <a:latin typeface="Liberation Sans"/>
              </a:defRPr>
            </a:pPr>
            <a:r>
              <a:t>Destaque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7" y="5001768"/>
            <a:ext cx="5788152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550" b="0">
                <a:solidFill>
                  <a:srgbClr val="62708A"/>
                </a:solidFill>
                <a:latin typeface="Liberation Sans"/>
              </a:defRPr>
            </a:pPr>
            <a:r>
              <a:t>Benefícios anunciados incluem destaque, impulsos e selo de criador; concessão precisa de operação e regras.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09460" y="1394460"/>
            <a:ext cx="2112264" cy="445406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3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gam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9752" y="1444752"/>
            <a:ext cx="2011680" cy="43534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159752" y="5917105"/>
            <a:ext cx="2011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930" b="0">
                <a:solidFill>
                  <a:srgbClr val="62708A"/>
                </a:solidFill>
                <a:latin typeface="Liberation Sans"/>
              </a:defRPr>
            </a:pPr>
            <a:r>
              <a:t>Captura atual da interface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32036" y="1394460"/>
            <a:ext cx="2112264" cy="445406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3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rank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2328" y="1444752"/>
            <a:ext cx="2011680" cy="435348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482328" y="5917105"/>
            <a:ext cx="2011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930" b="0">
                <a:solidFill>
                  <a:srgbClr val="62708A"/>
                </a:solidFill>
                <a:latin typeface="Liberation Sans"/>
              </a:defRPr>
            </a:pPr>
            <a:r>
              <a:t>Captura atual da interface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con-1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4320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05256" y="256032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800" b="1">
                <a:solidFill>
                  <a:srgbClr val="18223B"/>
                </a:solidFill>
                <a:latin typeface="Liberation Sans"/>
              </a:defRPr>
            </a:pPr>
            <a:r>
              <a:t>blessed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33472" y="320040"/>
            <a:ext cx="896112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000" b="1">
                <a:solidFill>
                  <a:srgbClr val="405DF5"/>
                </a:solidFill>
                <a:latin typeface="Liberation Sans"/>
              </a:defRPr>
            </a:pPr>
            <a:r>
              <a:t>PARA CRIADORES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09944"/>
            <a:ext cx="11000232" cy="10972"/>
          </a:xfrm>
          <a:prstGeom prst="rect">
            <a:avLst/>
          </a:prstGeom>
          <a:solidFill>
            <a:srgbClr val="DCE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6537960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810" b="0">
                <a:solidFill>
                  <a:srgbClr val="62708A"/>
                </a:solidFill>
                <a:latin typeface="Liberation Sans"/>
              </a:defRPr>
            </a:pPr>
            <a:r>
              <a:t>BLESSED  /  NEGÓCIOS  /  22 OUT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01384"/>
            <a:ext cx="78638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1100" b="1">
                <a:solidFill>
                  <a:srgbClr val="405DF5"/>
                </a:solidFill>
                <a:latin typeface="Liberation Sans"/>
              </a:defRPr>
            </a:pPr>
            <a:r>
              <a:t>10 /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841248"/>
            <a:ext cx="662940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3000" b="1">
                <a:solidFill>
                  <a:srgbClr val="18223B"/>
                </a:solidFill>
                <a:latin typeface="Liberation Sans"/>
              </a:defRPr>
            </a:pPr>
            <a:r>
              <a:t>Do conteúdo ao portfólio.</a:t>
            </a:r>
          </a:p>
          <a:p>
            <a:pPr>
              <a:lnSpc>
                <a:spcPct val="108000"/>
              </a:lnSpc>
              <a:spcAft>
                <a:spcPts val="0"/>
              </a:spcAft>
              <a:defRPr sz="3000" b="1">
                <a:solidFill>
                  <a:srgbClr val="18223B"/>
                </a:solidFill>
                <a:latin typeface="Liberation Sans"/>
              </a:defRPr>
            </a:pPr>
            <a:r>
              <a:t>Do portfólio à oportunidade.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975104"/>
            <a:ext cx="62179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600" b="0">
                <a:solidFill>
                  <a:srgbClr val="62708A"/>
                </a:solidFill>
                <a:latin typeface="Liberation Sans"/>
              </a:defRPr>
            </a:pPr>
            <a:r>
              <a:t>Uma jornada profissional dentro da comunidade.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761488"/>
            <a:ext cx="68580" cy="292608"/>
          </a:xfrm>
          <a:prstGeom prst="rect">
            <a:avLst/>
          </a:prstGeom>
          <a:solidFill>
            <a:srgbClr val="405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715768"/>
            <a:ext cx="57881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800" b="1">
                <a:solidFill>
                  <a:srgbClr val="18223B"/>
                </a:solidFill>
                <a:latin typeface="Liberation Sans"/>
              </a:defRPr>
            </a:pPr>
            <a:r>
              <a:t>Apresentar o trabalho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099816"/>
            <a:ext cx="5788152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550" b="0">
                <a:solidFill>
                  <a:srgbClr val="62708A"/>
                </a:solidFill>
                <a:latin typeface="Liberation Sans"/>
              </a:defRPr>
            </a:pPr>
            <a:r>
              <a:t>Perfil, conteúdos e link HTTPS do portfólio.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712463"/>
            <a:ext cx="68580" cy="292608"/>
          </a:xfrm>
          <a:prstGeom prst="rect">
            <a:avLst/>
          </a:prstGeom>
          <a:solidFill>
            <a:srgbClr val="405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3666744"/>
            <a:ext cx="57881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800" b="1">
                <a:solidFill>
                  <a:srgbClr val="18223B"/>
                </a:solidFill>
                <a:latin typeface="Liberation Sans"/>
              </a:defRPr>
            </a:pPr>
            <a:r>
              <a:t>Sinalizar interesses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7" y="4050791"/>
            <a:ext cx="5788152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550" b="0">
                <a:solidFill>
                  <a:srgbClr val="62708A"/>
                </a:solidFill>
                <a:latin typeface="Liberation Sans"/>
              </a:defRPr>
            </a:pPr>
            <a:r>
              <a:t>Áreas de atuação e consentimento para futuras propostas.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663440"/>
            <a:ext cx="68580" cy="292608"/>
          </a:xfrm>
          <a:prstGeom prst="rect">
            <a:avLst/>
          </a:prstGeom>
          <a:solidFill>
            <a:srgbClr val="405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7" y="4617720"/>
            <a:ext cx="57881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800" b="1">
                <a:solidFill>
                  <a:srgbClr val="18223B"/>
                </a:solidFill>
                <a:latin typeface="Liberation Sans"/>
              </a:defRPr>
            </a:pPr>
            <a:r>
              <a:t>Acompanhar o programa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7" y="5001768"/>
            <a:ext cx="5788152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550" b="0">
                <a:solidFill>
                  <a:srgbClr val="62708A"/>
                </a:solidFill>
                <a:latin typeface="Liberation Sans"/>
              </a:defRPr>
            </a:pPr>
            <a:r>
              <a:t>Painel de saldo e histórico. Saques e pagamentos ainda não estão ativados.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36308" y="1394460"/>
            <a:ext cx="2194560" cy="331758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3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portfolio-fo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444752"/>
            <a:ext cx="2093976" cy="321700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086600" y="4780626"/>
            <a:ext cx="209397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930" b="0">
                <a:solidFill>
                  <a:srgbClr val="62708A"/>
                </a:solidFill>
                <a:latin typeface="Liberation Sans"/>
              </a:defRPr>
            </a:pPr>
            <a:r>
              <a:t>Cadastro do portfólio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77172" y="1394460"/>
            <a:ext cx="2139696" cy="451343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3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earning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7464" y="1444752"/>
            <a:ext cx="2039112" cy="4412847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427464" y="5976471"/>
            <a:ext cx="203911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930" b="0">
                <a:solidFill>
                  <a:srgbClr val="62708A"/>
                </a:solidFill>
                <a:latin typeface="Liberation Sans"/>
              </a:defRPr>
            </a:pPr>
            <a:r>
              <a:t>Ganhos • estado sem transações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con-1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4320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05256" y="256032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800" b="1">
                <a:solidFill>
                  <a:srgbClr val="18223B"/>
                </a:solidFill>
                <a:latin typeface="Liberation Sans"/>
              </a:defRPr>
            </a:pPr>
            <a:r>
              <a:t>blessed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33472" y="320040"/>
            <a:ext cx="896112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000" b="1">
                <a:solidFill>
                  <a:srgbClr val="405DF5"/>
                </a:solidFill>
                <a:latin typeface="Liberation Sans"/>
              </a:defRPr>
            </a:pPr>
            <a:r>
              <a:t>PARA EMPRESAS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09944"/>
            <a:ext cx="11000232" cy="10972"/>
          </a:xfrm>
          <a:prstGeom prst="rect">
            <a:avLst/>
          </a:prstGeom>
          <a:solidFill>
            <a:srgbClr val="DCE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6537960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810" b="0">
                <a:solidFill>
                  <a:srgbClr val="62708A"/>
                </a:solidFill>
                <a:latin typeface="Liberation Sans"/>
              </a:defRPr>
            </a:pPr>
            <a:r>
              <a:t>BLESSED  /  NEGÓCIOS  /  22 OUT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01384"/>
            <a:ext cx="78638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1100" b="1">
                <a:solidFill>
                  <a:srgbClr val="405DF5"/>
                </a:solidFill>
                <a:latin typeface="Liberation Sans"/>
              </a:defRPr>
            </a:pPr>
            <a:r>
              <a:t>11 /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841248"/>
            <a:ext cx="1097280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3000" b="1">
                <a:solidFill>
                  <a:srgbClr val="18223B"/>
                </a:solidFill>
                <a:latin typeface="Liberation Sans"/>
              </a:defRPr>
            </a:pPr>
            <a:r>
              <a:t>A marca encontra criadores.</a:t>
            </a:r>
          </a:p>
          <a:p>
            <a:pPr>
              <a:lnSpc>
                <a:spcPct val="108000"/>
              </a:lnSpc>
              <a:spcAft>
                <a:spcPts val="0"/>
              </a:spcAft>
              <a:defRPr sz="3000" b="1">
                <a:solidFill>
                  <a:srgbClr val="18223B"/>
                </a:solidFill>
                <a:latin typeface="Liberation Sans"/>
              </a:defRPr>
            </a:pPr>
            <a:r>
              <a:t>A equipe facilita a primeira parceria.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975104"/>
            <a:ext cx="108813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600" b="0">
                <a:solidFill>
                  <a:srgbClr val="62708A"/>
                </a:solidFill>
                <a:latin typeface="Liberation Sans"/>
              </a:defRPr>
            </a:pPr>
            <a:r>
              <a:t>Começar com curadoria assistida reduz risco e ajuda a aprender antes de automatizar.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880360"/>
            <a:ext cx="2660904" cy="1947672"/>
          </a:xfrm>
          <a:prstGeom prst="roundRect">
            <a:avLst>
              <a:gd name="adj" fmla="val 12000"/>
            </a:avLst>
          </a:prstGeom>
          <a:solidFill>
            <a:srgbClr val="F3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3054096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2700" b="1">
                <a:solidFill>
                  <a:srgbClr val="405DF5"/>
                </a:solidFill>
                <a:latin typeface="Liberation Sans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630168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900" b="1">
                <a:solidFill>
                  <a:srgbClr val="18223B"/>
                </a:solidFill>
                <a:latin typeface="Liberation Sans"/>
              </a:defRPr>
            </a:pPr>
            <a:r>
              <a:t>Descobrir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4069080"/>
            <a:ext cx="2258568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500" b="0">
                <a:solidFill>
                  <a:srgbClr val="62708A"/>
                </a:solidFill>
                <a:latin typeface="Liberation Sans"/>
              </a:defRPr>
            </a:pPr>
            <a:r>
              <a:t>Ver perfis e conteúdos da comunidade.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2880360"/>
            <a:ext cx="2660904" cy="1947672"/>
          </a:xfrm>
          <a:prstGeom prst="roundRect">
            <a:avLst>
              <a:gd name="adj" fmla="val 12000"/>
            </a:avLst>
          </a:prstGeom>
          <a:solidFill>
            <a:srgbClr val="F3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39312" y="3054096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2700" b="1">
                <a:solidFill>
                  <a:srgbClr val="405DF5"/>
                </a:solidFill>
                <a:latin typeface="Liberation Sans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9312" y="3630168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900" b="1">
                <a:solidFill>
                  <a:srgbClr val="18223B"/>
                </a:solidFill>
                <a:latin typeface="Liberation Sans"/>
              </a:defRPr>
            </a:pPr>
            <a:r>
              <a:t>Conhecer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9312" y="4069080"/>
            <a:ext cx="2258568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500" b="0">
                <a:solidFill>
                  <a:srgbClr val="62708A"/>
                </a:solidFill>
                <a:latin typeface="Liberation Sans"/>
              </a:defRPr>
            </a:pPr>
            <a:r>
              <a:t>Criadores informam interesses e portfólio à equipe.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72784" y="2880360"/>
            <a:ext cx="2660904" cy="1947672"/>
          </a:xfrm>
          <a:prstGeom prst="roundRect">
            <a:avLst>
              <a:gd name="adj" fmla="val 12000"/>
            </a:avLst>
          </a:prstGeom>
          <a:solidFill>
            <a:srgbClr val="F3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55664" y="3054096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2700" b="1">
                <a:solidFill>
                  <a:srgbClr val="405DF5"/>
                </a:solidFill>
                <a:latin typeface="Liberation Sans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5664" y="3630168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900" b="1">
                <a:solidFill>
                  <a:srgbClr val="18223B"/>
                </a:solidFill>
                <a:latin typeface="Liberation Sans"/>
              </a:defRPr>
            </a:pPr>
            <a:r>
              <a:t>Conversar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5664" y="4069080"/>
            <a:ext cx="2258568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500" b="0">
                <a:solidFill>
                  <a:srgbClr val="62708A"/>
                </a:solidFill>
                <a:latin typeface="Liberation Sans"/>
              </a:defRPr>
            </a:pPr>
            <a:r>
              <a:t>Empresa e criador iniciam contato pelo chat.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89136" y="2880360"/>
            <a:ext cx="2660904" cy="1947672"/>
          </a:xfrm>
          <a:prstGeom prst="roundRect">
            <a:avLst>
              <a:gd name="adj" fmla="val 12000"/>
            </a:avLst>
          </a:prstGeom>
          <a:solidFill>
            <a:srgbClr val="F3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72015" y="3054096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2700" b="1">
                <a:solidFill>
                  <a:srgbClr val="405DF5"/>
                </a:solidFill>
                <a:latin typeface="Liberation Sans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72015" y="3630168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900" b="1">
                <a:solidFill>
                  <a:srgbClr val="18223B"/>
                </a:solidFill>
                <a:latin typeface="Liberation Sans"/>
              </a:defRPr>
            </a:pPr>
            <a:r>
              <a:t>Contratar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72015" y="4069080"/>
            <a:ext cx="2258568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500" b="0">
                <a:solidFill>
                  <a:srgbClr val="62708A"/>
                </a:solidFill>
                <a:latin typeface="Liberation Sans"/>
              </a:defRPr>
            </a:pPr>
            <a:r>
              <a:t>Briefing, entrega, direitos e pagamento definidos no piloto.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8" y="5568696"/>
            <a:ext cx="10972800" cy="658368"/>
          </a:xfrm>
          <a:prstGeom prst="roundRect">
            <a:avLst>
              <a:gd name="adj" fmla="val 12000"/>
            </a:avLst>
          </a:prstGeom>
          <a:solidFill>
            <a:srgbClr val="F3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2648" y="5568696"/>
            <a:ext cx="41148" cy="658368"/>
          </a:xfrm>
          <a:prstGeom prst="rect">
            <a:avLst/>
          </a:prstGeom>
          <a:solidFill>
            <a:srgbClr val="405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" y="5678424"/>
            <a:ext cx="10607040" cy="5120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320" b="0">
                <a:solidFill>
                  <a:srgbClr val="17266D"/>
                </a:solidFill>
                <a:latin typeface="Liberation Sans"/>
              </a:defRPr>
            </a:pPr>
            <a:r>
              <a:t>Próxima entrega comercial: busca de portfólios para empresas e solicitação estruturada de parceria. Esse marketplace ainda não está completo.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con-1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4320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05256" y="256032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800" b="1">
                <a:solidFill>
                  <a:srgbClr val="18223B"/>
                </a:solidFill>
                <a:latin typeface="Liberation Sans"/>
              </a:defRPr>
            </a:pPr>
            <a:r>
              <a:t>blessed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33472" y="320040"/>
            <a:ext cx="896112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000" b="1">
                <a:solidFill>
                  <a:srgbClr val="405DF5"/>
                </a:solidFill>
                <a:latin typeface="Liberation Sans"/>
              </a:defRPr>
            </a:pPr>
            <a:r>
              <a:t>CONFIANÇA E POSICIONAMENTO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09944"/>
            <a:ext cx="11000232" cy="10972"/>
          </a:xfrm>
          <a:prstGeom prst="rect">
            <a:avLst/>
          </a:prstGeom>
          <a:solidFill>
            <a:srgbClr val="DCE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6537960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810" b="0">
                <a:solidFill>
                  <a:srgbClr val="62708A"/>
                </a:solidFill>
                <a:latin typeface="Liberation Sans"/>
              </a:defRPr>
            </a:pPr>
            <a:r>
              <a:t>BLESSED  /  NEGÓCIOS  /  22 OUT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01384"/>
            <a:ext cx="78638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1100" b="1">
                <a:solidFill>
                  <a:srgbClr val="405DF5"/>
                </a:solidFill>
                <a:latin typeface="Liberation Sans"/>
              </a:defRPr>
            </a:pPr>
            <a:r>
              <a:t>12 /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841248"/>
            <a:ext cx="1097280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3000" b="1">
                <a:solidFill>
                  <a:srgbClr val="18223B"/>
                </a:solidFill>
                <a:latin typeface="Liberation Sans"/>
              </a:defRPr>
            </a:pPr>
            <a:r>
              <a:t>Um selo deve ter</a:t>
            </a:r>
          </a:p>
          <a:p>
            <a:pPr>
              <a:lnSpc>
                <a:spcPct val="108000"/>
              </a:lnSpc>
              <a:spcAft>
                <a:spcPts val="0"/>
              </a:spcAft>
              <a:defRPr sz="3000" b="1">
                <a:solidFill>
                  <a:srgbClr val="18223B"/>
                </a:solidFill>
                <a:latin typeface="Liberation Sans"/>
              </a:defRPr>
            </a:pPr>
            <a:r>
              <a:t>um motivo claro para existir.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975104"/>
            <a:ext cx="108813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600" b="0">
                <a:solidFill>
                  <a:srgbClr val="62708A"/>
                </a:solidFill>
                <a:latin typeface="Liberation Sans"/>
              </a:defRPr>
            </a:pPr>
            <a:r>
              <a:t>Autenticidade e reconhecimento de criador são propostas diferentes.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743200"/>
            <a:ext cx="5449824" cy="2295144"/>
          </a:xfrm>
          <a:prstGeom prst="roundRect">
            <a:avLst>
              <a:gd name="adj" fmla="val 12000"/>
            </a:avLst>
          </a:prstGeom>
          <a:solidFill>
            <a:srgbClr val="F3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12-Point Star 10"/>
          <p:cNvSpPr/>
          <p:nvPr/>
        </p:nvSpPr>
        <p:spPr>
          <a:xfrm>
            <a:off x="868680" y="2971800"/>
            <a:ext cx="640080" cy="640080"/>
          </a:xfrm>
          <a:prstGeom prst="star12">
            <a:avLst/>
          </a:prstGeom>
          <a:solidFill>
            <a:srgbClr val="405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08152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  <a:defRPr sz="2900" b="1">
                <a:solidFill>
                  <a:srgbClr val="FFFFFF"/>
                </a:solidFill>
                <a:latin typeface="Liberation Sans"/>
              </a:defRPr>
            </a:pPr>
            <a: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73351" y="306324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2200" b="1">
                <a:solidFill>
                  <a:srgbClr val="18223B"/>
                </a:solidFill>
                <a:latin typeface="Liberation Sans"/>
              </a:defRPr>
            </a:pPr>
            <a:r>
              <a:t>Verificado azul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3840480"/>
            <a:ext cx="4928616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800" b="0">
                <a:solidFill>
                  <a:srgbClr val="62708A"/>
                </a:solidFill>
                <a:latin typeface="Liberation Sans"/>
              </a:defRPr>
            </a:pPr>
            <a:r>
              <a:t>Assinatura após conferência do perfil. Oferta atual: R$ 14,90/mês para pessoa; R$ 34,90/mês para empresa.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91072" y="2743200"/>
            <a:ext cx="5449824" cy="2295144"/>
          </a:xfrm>
          <a:prstGeom prst="roundRect">
            <a:avLst>
              <a:gd name="adj" fmla="val 12000"/>
            </a:avLst>
          </a:prstGeom>
          <a:solidFill>
            <a:srgbClr val="F3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12-Point Star 15"/>
          <p:cNvSpPr/>
          <p:nvPr/>
        </p:nvSpPr>
        <p:spPr>
          <a:xfrm>
            <a:off x="6519672" y="2971800"/>
            <a:ext cx="640080" cy="640080"/>
          </a:xfrm>
          <a:prstGeom prst="star12">
            <a:avLst/>
          </a:prstGeom>
          <a:solidFill>
            <a:srgbClr val="D8A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11112" y="308152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  <a:defRPr sz="2900" b="1">
                <a:solidFill>
                  <a:srgbClr val="FFFFFF"/>
                </a:solidFill>
                <a:latin typeface="Liberation Sans"/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24344" y="306324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2200" b="1">
                <a:solidFill>
                  <a:srgbClr val="18223B"/>
                </a:solidFill>
                <a:latin typeface="Liberation Sans"/>
              </a:defRPr>
            </a:pPr>
            <a:r>
              <a:t>Criador amarelo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840480"/>
            <a:ext cx="4928616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800" b="0">
                <a:solidFill>
                  <a:srgbClr val="62708A"/>
                </a:solidFill>
                <a:latin typeface="Liberation Sans"/>
              </a:defRPr>
            </a:pPr>
            <a:r>
              <a:t>Reconhecimento por critérios e análise. Solicitação gratuita; não é uma promessa de renda.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" y="5559552"/>
            <a:ext cx="10972800" cy="667512"/>
          </a:xfrm>
          <a:prstGeom prst="roundRect">
            <a:avLst>
              <a:gd name="adj" fmla="val 12000"/>
            </a:avLst>
          </a:prstGeom>
          <a:solidFill>
            <a:srgbClr val="F3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2648" y="5559552"/>
            <a:ext cx="41148" cy="667512"/>
          </a:xfrm>
          <a:prstGeom prst="rect">
            <a:avLst/>
          </a:prstGeom>
          <a:solidFill>
            <a:srgbClr val="405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" y="5669280"/>
            <a:ext cx="1060704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320" b="0">
                <a:solidFill>
                  <a:srgbClr val="17266D"/>
                </a:solidFill>
                <a:latin typeface="Liberation Sans"/>
              </a:defRPr>
            </a:pPr>
            <a:r>
              <a:t>Por que uma empresa pediria o selo? Identificação autêntica, destaque previsto nas sugestões e um canal de suporte da equipe. Sem garantia de vendas.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3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con-1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4320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05256" y="256032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800" b="1">
                <a:solidFill>
                  <a:srgbClr val="FFFFFF"/>
                </a:solidFill>
                <a:latin typeface="Liberation Sans"/>
              </a:defRPr>
            </a:pPr>
            <a:r>
              <a:t>blessed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33472" y="320040"/>
            <a:ext cx="896112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000" b="1">
                <a:solidFill>
                  <a:srgbClr val="BBC8FF"/>
                </a:solidFill>
                <a:latin typeface="Liberation Sans"/>
              </a:defRPr>
            </a:pPr>
            <a:r>
              <a:t>SEGURANÇA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09944"/>
            <a:ext cx="11000232" cy="10972"/>
          </a:xfrm>
          <a:prstGeom prst="rect">
            <a:avLst/>
          </a:prstGeom>
          <a:solidFill>
            <a:srgbClr val="26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6537960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810" b="0">
                <a:solidFill>
                  <a:srgbClr val="BBC8FF"/>
                </a:solidFill>
                <a:latin typeface="Liberation Sans"/>
              </a:defRPr>
            </a:pPr>
            <a:r>
              <a:t>BLESSED  /  NEGÓCIOS  /  22 OUT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01384"/>
            <a:ext cx="78638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1100" b="1">
                <a:solidFill>
                  <a:srgbClr val="BBC8FF"/>
                </a:solidFill>
                <a:latin typeface="Liberation Sans"/>
              </a:defRPr>
            </a:pPr>
            <a:r>
              <a:t>13 /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841248"/>
            <a:ext cx="1097280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3000" b="1">
                <a:solidFill>
                  <a:srgbClr val="FFFFFF"/>
                </a:solidFill>
                <a:latin typeface="Liberation Sans"/>
              </a:defRPr>
            </a:pPr>
            <a:r>
              <a:t>Proteção em camadas.</a:t>
            </a:r>
          </a:p>
          <a:p>
            <a:pPr>
              <a:lnSpc>
                <a:spcPct val="108000"/>
              </a:lnSpc>
              <a:spcAft>
                <a:spcPts val="0"/>
              </a:spcAft>
              <a:defRPr sz="3000" b="1">
                <a:solidFill>
                  <a:srgbClr val="FFFFFF"/>
                </a:solidFill>
                <a:latin typeface="Liberation Sans"/>
              </a:defRPr>
            </a:pPr>
            <a:r>
              <a:t>Afirmações que podemos sustentar.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31720"/>
            <a:ext cx="5440680" cy="1252728"/>
          </a:xfrm>
          <a:prstGeom prst="roundRect">
            <a:avLst>
              <a:gd name="adj" fmla="val 12000"/>
            </a:avLst>
          </a:prstGeom>
          <a:solidFill>
            <a:srgbClr val="162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49631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300" b="1">
                <a:solidFill>
                  <a:srgbClr val="BBC8FF"/>
                </a:solidFill>
                <a:latin typeface="Liberation San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6152" y="2478024"/>
            <a:ext cx="4681728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700" b="1">
                <a:solidFill>
                  <a:srgbClr val="FFFFFF"/>
                </a:solidFill>
                <a:latin typeface="Liberation Sans"/>
              </a:defRPr>
            </a:pPr>
            <a:r>
              <a:t>HTTPS / TLS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880360"/>
            <a:ext cx="503834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450" b="0">
                <a:solidFill>
                  <a:srgbClr val="BBC8FF"/>
                </a:solidFill>
                <a:latin typeface="Liberation Sans"/>
              </a:defRPr>
            </a:pPr>
            <a:r>
              <a:t>Criptografia na comunicação entre navegador e serviços.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1072" y="2331720"/>
            <a:ext cx="5440680" cy="1252728"/>
          </a:xfrm>
          <a:prstGeom prst="roundRect">
            <a:avLst>
              <a:gd name="adj" fmla="val 12000"/>
            </a:avLst>
          </a:prstGeom>
          <a:solidFill>
            <a:srgbClr val="162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49631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300" b="1">
                <a:solidFill>
                  <a:srgbClr val="BBC8FF"/>
                </a:solidFill>
                <a:latin typeface="Liberation San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7144" y="2478024"/>
            <a:ext cx="4681728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700" b="1">
                <a:solidFill>
                  <a:srgbClr val="FFFFFF"/>
                </a:solidFill>
                <a:latin typeface="Liberation Sans"/>
              </a:defRPr>
            </a:pPr>
            <a:r>
              <a:t>Login gerenciado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880360"/>
            <a:ext cx="503834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450" b="0">
                <a:solidFill>
                  <a:srgbClr val="BBC8FF"/>
                </a:solidFill>
                <a:latin typeface="Liberation Sans"/>
              </a:defRPr>
            </a:pPr>
            <a:r>
              <a:t>Autenticação e senhas sob o Supabase Auth.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749039"/>
            <a:ext cx="5440680" cy="1252728"/>
          </a:xfrm>
          <a:prstGeom prst="roundRect">
            <a:avLst>
              <a:gd name="adj" fmla="val 12000"/>
            </a:avLst>
          </a:prstGeom>
          <a:solidFill>
            <a:srgbClr val="162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3913631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300" b="1">
                <a:solidFill>
                  <a:srgbClr val="BBC8FF"/>
                </a:solidFill>
                <a:latin typeface="Liberation San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895344"/>
            <a:ext cx="4681728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700" b="1">
                <a:solidFill>
                  <a:srgbClr val="FFFFFF"/>
                </a:solidFill>
                <a:latin typeface="Liberation Sans"/>
              </a:defRPr>
            </a:pPr>
            <a:r>
              <a:t>Acesso por participante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297679"/>
            <a:ext cx="503834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450" b="0">
                <a:solidFill>
                  <a:srgbClr val="BBC8FF"/>
                </a:solidFill>
                <a:latin typeface="Liberation Sans"/>
              </a:defRPr>
            </a:pPr>
            <a:r>
              <a:t>Regras RLS no projeto restringem leitura e envio no chat.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91072" y="3749039"/>
            <a:ext cx="5440680" cy="1252728"/>
          </a:xfrm>
          <a:prstGeom prst="roundRect">
            <a:avLst>
              <a:gd name="adj" fmla="val 12000"/>
            </a:avLst>
          </a:prstGeom>
          <a:solidFill>
            <a:srgbClr val="162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3913631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300" b="1">
                <a:solidFill>
                  <a:srgbClr val="BBC8FF"/>
                </a:solidFill>
                <a:latin typeface="Liberation Sans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67144" y="3895344"/>
            <a:ext cx="4681728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700" b="1">
                <a:solidFill>
                  <a:srgbClr val="FFFFFF"/>
                </a:solidFill>
                <a:latin typeface="Liberation Sans"/>
              </a:defRPr>
            </a:pPr>
            <a:r>
              <a:t>Mídias privadas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297679"/>
            <a:ext cx="503834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450" b="0">
                <a:solidFill>
                  <a:srgbClr val="BBC8FF"/>
                </a:solidFill>
                <a:latin typeface="Liberation Sans"/>
              </a:defRPr>
            </a:pPr>
            <a:r>
              <a:t>Bucket de chat privado e URLs temporárias no projeto.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" y="5632704"/>
            <a:ext cx="10972800" cy="603504"/>
          </a:xfrm>
          <a:prstGeom prst="roundRect">
            <a:avLst>
              <a:gd name="adj" fmla="val 12000"/>
            </a:avLst>
          </a:prstGeom>
          <a:solidFill>
            <a:srgbClr val="1A2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2648" y="5632704"/>
            <a:ext cx="41148" cy="603504"/>
          </a:xfrm>
          <a:prstGeom prst="rect">
            <a:avLst/>
          </a:prstGeom>
          <a:solidFill>
            <a:srgbClr val="BB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6384" y="5742432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320" b="0">
                <a:solidFill>
                  <a:srgbClr val="BBC8FF"/>
                </a:solidFill>
                <a:latin typeface="Liberation Sans"/>
              </a:defRPr>
            </a:pPr>
            <a:r>
              <a:t>O chat não implementa criptografia ponta a ponta. A revisão do código não equivale a auditoria de produção ou certificação independente.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con-1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4320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05256" y="256032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800" b="1">
                <a:solidFill>
                  <a:srgbClr val="18223B"/>
                </a:solidFill>
                <a:latin typeface="Liberation Sans"/>
              </a:defRPr>
            </a:pPr>
            <a:r>
              <a:t>blessed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33472" y="320040"/>
            <a:ext cx="896112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000" b="1">
                <a:solidFill>
                  <a:srgbClr val="405DF5"/>
                </a:solidFill>
                <a:latin typeface="Liberation Sans"/>
              </a:defRPr>
            </a:pPr>
            <a:r>
              <a:t>ESTRATÉGIA DE CRESCIMENTO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09944"/>
            <a:ext cx="11000232" cy="10972"/>
          </a:xfrm>
          <a:prstGeom prst="rect">
            <a:avLst/>
          </a:prstGeom>
          <a:solidFill>
            <a:srgbClr val="DCE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6537960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810" b="0">
                <a:solidFill>
                  <a:srgbClr val="62708A"/>
                </a:solidFill>
                <a:latin typeface="Liberation Sans"/>
              </a:defRPr>
            </a:pPr>
            <a:r>
              <a:t>BLESSED  /  NEGÓCIOS  /  22 OUT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01384"/>
            <a:ext cx="78638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1100" b="1">
                <a:solidFill>
                  <a:srgbClr val="405DF5"/>
                </a:solidFill>
                <a:latin typeface="Liberation Sans"/>
              </a:defRPr>
            </a:pPr>
            <a:r>
              <a:t>14 /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841248"/>
            <a:ext cx="1097280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3000" b="1">
                <a:solidFill>
                  <a:srgbClr val="18223B"/>
                </a:solidFill>
                <a:latin typeface="Liberation Sans"/>
              </a:defRPr>
            </a:pPr>
            <a:r>
              <a:t>Crescer por comunidades,</a:t>
            </a:r>
          </a:p>
          <a:p>
            <a:pPr>
              <a:lnSpc>
                <a:spcPct val="108000"/>
              </a:lnSpc>
              <a:spcAft>
                <a:spcPts val="0"/>
              </a:spcAft>
              <a:defRPr sz="3000" b="1">
                <a:solidFill>
                  <a:srgbClr val="18223B"/>
                </a:solidFill>
                <a:latin typeface="Liberation Sans"/>
              </a:defRPr>
            </a:pPr>
            <a:r>
              <a:t>não por um lançamento isolado.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743200"/>
            <a:ext cx="2176272" cy="2240280"/>
          </a:xfrm>
          <a:prstGeom prst="roundRect">
            <a:avLst>
              <a:gd name="adj" fmla="val 12000"/>
            </a:avLst>
          </a:prstGeom>
          <a:solidFill>
            <a:srgbClr val="F3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926080"/>
            <a:ext cx="5486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2900" b="1">
                <a:solidFill>
                  <a:srgbClr val="405DF5"/>
                </a:solidFill>
                <a:latin typeface="Liberation San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358444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2000" b="1">
                <a:solidFill>
                  <a:srgbClr val="18223B"/>
                </a:solidFill>
                <a:latin typeface="Liberation Sans"/>
              </a:defRPr>
            </a:pPr>
            <a:r>
              <a:t>Criadores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411480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600" b="0">
                <a:solidFill>
                  <a:srgbClr val="62708A"/>
                </a:solidFill>
                <a:latin typeface="Liberation Sans"/>
              </a:defRPr>
            </a:pPr>
            <a:r>
              <a:t>Conteúdo recorrente e original</a:t>
            </a:r>
          </a:p>
        </p:txBody>
      </p:sp>
      <p:sp>
        <p:nvSpPr>
          <p:cNvPr id="13" name="Chevron 12"/>
          <p:cNvSpPr/>
          <p:nvPr/>
        </p:nvSpPr>
        <p:spPr>
          <a:xfrm>
            <a:off x="3108960" y="3657600"/>
            <a:ext cx="329184" cy="411480"/>
          </a:xfrm>
          <a:prstGeom prst="chevron">
            <a:avLst/>
          </a:prstGeom>
          <a:solidFill>
            <a:srgbClr val="405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57600" y="2743200"/>
            <a:ext cx="2176272" cy="2240280"/>
          </a:xfrm>
          <a:prstGeom prst="roundRect">
            <a:avLst>
              <a:gd name="adj" fmla="val 12000"/>
            </a:avLst>
          </a:prstGeom>
          <a:solidFill>
            <a:srgbClr val="F3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31336" y="2926080"/>
            <a:ext cx="5486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2900" b="1">
                <a:solidFill>
                  <a:srgbClr val="405DF5"/>
                </a:solidFill>
                <a:latin typeface="Liberation San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31336" y="358444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2000" b="1">
                <a:solidFill>
                  <a:srgbClr val="18223B"/>
                </a:solidFill>
                <a:latin typeface="Liberation Sans"/>
              </a:defRPr>
            </a:pPr>
            <a:r>
              <a:t>Pessoas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31336" y="411480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600" b="0">
                <a:solidFill>
                  <a:srgbClr val="62708A"/>
                </a:solidFill>
                <a:latin typeface="Liberation Sans"/>
              </a:defRPr>
            </a:pPr>
            <a:r>
              <a:t>Conversa, convite e retorno</a:t>
            </a:r>
          </a:p>
        </p:txBody>
      </p:sp>
      <p:sp>
        <p:nvSpPr>
          <p:cNvPr id="18" name="Chevron 17"/>
          <p:cNvSpPr/>
          <p:nvPr/>
        </p:nvSpPr>
        <p:spPr>
          <a:xfrm>
            <a:off x="5989320" y="3657600"/>
            <a:ext cx="329184" cy="411480"/>
          </a:xfrm>
          <a:prstGeom prst="chevron">
            <a:avLst/>
          </a:prstGeom>
          <a:solidFill>
            <a:srgbClr val="405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37960" y="2743200"/>
            <a:ext cx="2176272" cy="2240280"/>
          </a:xfrm>
          <a:prstGeom prst="roundRect">
            <a:avLst>
              <a:gd name="adj" fmla="val 12000"/>
            </a:avLst>
          </a:prstGeom>
          <a:solidFill>
            <a:srgbClr val="F3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11696" y="2926080"/>
            <a:ext cx="5486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2900" b="1">
                <a:solidFill>
                  <a:srgbClr val="405DF5"/>
                </a:solidFill>
                <a:latin typeface="Liberation Sans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11696" y="358444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2000" b="1">
                <a:solidFill>
                  <a:srgbClr val="18223B"/>
                </a:solidFill>
                <a:latin typeface="Liberation Sans"/>
              </a:defRPr>
            </a:pPr>
            <a:r>
              <a:t>Empresas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11696" y="411480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600" b="0">
                <a:solidFill>
                  <a:srgbClr val="62708A"/>
                </a:solidFill>
                <a:latin typeface="Liberation Sans"/>
              </a:defRPr>
            </a:pPr>
            <a:r>
              <a:t>Campanhas e relacionamento</a:t>
            </a:r>
          </a:p>
        </p:txBody>
      </p:sp>
      <p:sp>
        <p:nvSpPr>
          <p:cNvPr id="23" name="Chevron 22"/>
          <p:cNvSpPr/>
          <p:nvPr/>
        </p:nvSpPr>
        <p:spPr>
          <a:xfrm>
            <a:off x="8869680" y="3657600"/>
            <a:ext cx="329184" cy="411480"/>
          </a:xfrm>
          <a:prstGeom prst="chevron">
            <a:avLst/>
          </a:prstGeom>
          <a:solidFill>
            <a:srgbClr val="405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281160" y="2743200"/>
            <a:ext cx="2176272" cy="2240280"/>
          </a:xfrm>
          <a:prstGeom prst="roundRect">
            <a:avLst>
              <a:gd name="adj" fmla="val 12000"/>
            </a:avLst>
          </a:prstGeom>
          <a:solidFill>
            <a:srgbClr val="F3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54896" y="2926080"/>
            <a:ext cx="5486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2900" b="1">
                <a:solidFill>
                  <a:srgbClr val="405DF5"/>
                </a:solidFill>
                <a:latin typeface="Liberation Sans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358444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2000" b="1">
                <a:solidFill>
                  <a:srgbClr val="18223B"/>
                </a:solidFill>
                <a:latin typeface="Liberation Sans"/>
              </a:defRPr>
            </a:pPr>
            <a:r>
              <a:t>Resultados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54896" y="411480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600" b="0">
                <a:solidFill>
                  <a:srgbClr val="62708A"/>
                </a:solidFill>
                <a:latin typeface="Liberation Sans"/>
              </a:defRPr>
            </a:pPr>
            <a:r>
              <a:t>Casos reais atraem novos parceiros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8" y="5650992"/>
            <a:ext cx="10972800" cy="566928"/>
          </a:xfrm>
          <a:prstGeom prst="roundRect">
            <a:avLst>
              <a:gd name="adj" fmla="val 12000"/>
            </a:avLst>
          </a:prstGeom>
          <a:solidFill>
            <a:srgbClr val="F3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2648" y="5650992"/>
            <a:ext cx="41148" cy="566928"/>
          </a:xfrm>
          <a:prstGeom prst="rect">
            <a:avLst/>
          </a:prstGeom>
          <a:solidFill>
            <a:srgbClr val="405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6384" y="5760720"/>
            <a:ext cx="10607040" cy="420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320" b="0">
                <a:solidFill>
                  <a:srgbClr val="17266D"/>
                </a:solidFill>
                <a:latin typeface="Liberation Sans"/>
              </a:defRPr>
            </a:pPr>
            <a:r>
              <a:t>Começar em um recorte local/temático e provar retenção antes de comprar alcance.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con-1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4320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05256" y="256032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800" b="1">
                <a:solidFill>
                  <a:srgbClr val="18223B"/>
                </a:solidFill>
                <a:latin typeface="Liberation Sans"/>
              </a:defRPr>
            </a:pPr>
            <a:r>
              <a:t>blessed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33472" y="320040"/>
            <a:ext cx="896112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000" b="1">
                <a:solidFill>
                  <a:srgbClr val="405DF5"/>
                </a:solidFill>
                <a:latin typeface="Liberation Sans"/>
              </a:defRPr>
            </a:pPr>
            <a:r>
              <a:t>MODELO DE RECEITA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09944"/>
            <a:ext cx="11000232" cy="10972"/>
          </a:xfrm>
          <a:prstGeom prst="rect">
            <a:avLst/>
          </a:prstGeom>
          <a:solidFill>
            <a:srgbClr val="DCE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6537960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810" b="0">
                <a:solidFill>
                  <a:srgbClr val="62708A"/>
                </a:solidFill>
                <a:latin typeface="Liberation Sans"/>
              </a:defRPr>
            </a:pPr>
            <a:r>
              <a:t>BLESSED  /  NEGÓCIOS  /  22 OUT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01384"/>
            <a:ext cx="78638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1100" b="1">
                <a:solidFill>
                  <a:srgbClr val="405DF5"/>
                </a:solidFill>
                <a:latin typeface="Liberation Sans"/>
              </a:defRPr>
            </a:pPr>
            <a:r>
              <a:t>15 /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841248"/>
            <a:ext cx="1097280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3000" b="1">
                <a:solidFill>
                  <a:srgbClr val="18223B"/>
                </a:solidFill>
                <a:latin typeface="Liberation Sans"/>
              </a:defRPr>
            </a:pPr>
            <a:r>
              <a:t>Receita recorrente primeiro.</a:t>
            </a:r>
          </a:p>
          <a:p>
            <a:pPr>
              <a:lnSpc>
                <a:spcPct val="108000"/>
              </a:lnSpc>
              <a:spcAft>
                <a:spcPts val="0"/>
              </a:spcAft>
              <a:defRPr sz="3000" b="1">
                <a:solidFill>
                  <a:srgbClr val="18223B"/>
                </a:solidFill>
                <a:latin typeface="Liberation Sans"/>
              </a:defRPr>
            </a:pPr>
            <a:r>
              <a:t>Novas linhas depois da validação.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975104"/>
            <a:ext cx="108813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600" b="0">
                <a:solidFill>
                  <a:srgbClr val="62708A"/>
                </a:solidFill>
                <a:latin typeface="Liberation Sans"/>
              </a:defRPr>
            </a:pPr>
            <a:r>
              <a:t>Cenários de assinaturas, sem incluir Cine, anúncios ou comissão futura.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770632"/>
            <a:ext cx="3566160" cy="2377440"/>
          </a:xfrm>
          <a:prstGeom prst="roundRect">
            <a:avLst>
              <a:gd name="adj" fmla="val 12000"/>
            </a:avLst>
          </a:prstGeom>
          <a:solidFill>
            <a:srgbClr val="F3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962656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3400" b="1">
                <a:solidFill>
                  <a:srgbClr val="405DF5"/>
                </a:solidFill>
                <a:latin typeface="Liberation Sans"/>
              </a:defRPr>
            </a:pPr>
            <a:r>
              <a:t>1 mil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56616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500" b="0">
                <a:solidFill>
                  <a:srgbClr val="62708A"/>
                </a:solidFill>
                <a:latin typeface="Liberation Sans"/>
              </a:defRPr>
            </a:pPr>
            <a:r>
              <a:t>usuários ativos/mês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02336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450" b="0">
                <a:solidFill>
                  <a:srgbClr val="18223B"/>
                </a:solidFill>
                <a:latin typeface="Liberation Sans"/>
              </a:defRPr>
            </a:pPr>
            <a:r>
              <a:t>20 pessoas + 2 empresas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517136"/>
            <a:ext cx="31089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2700" b="1">
                <a:solidFill>
                  <a:srgbClr val="18223B"/>
                </a:solidFill>
                <a:latin typeface="Liberation Sans"/>
              </a:defRPr>
            </a:pPr>
            <a:r>
              <a:t>R$ 367,80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2770632"/>
            <a:ext cx="3566160" cy="2377440"/>
          </a:xfrm>
          <a:prstGeom prst="roundRect">
            <a:avLst>
              <a:gd name="adj" fmla="val 12000"/>
            </a:avLst>
          </a:prstGeom>
          <a:solidFill>
            <a:srgbClr val="F3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2962656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3400" b="1">
                <a:solidFill>
                  <a:srgbClr val="405DF5"/>
                </a:solidFill>
                <a:latin typeface="Liberation Sans"/>
              </a:defRPr>
            </a:pPr>
            <a:r>
              <a:t>10 mil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356616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500" b="0">
                <a:solidFill>
                  <a:srgbClr val="62708A"/>
                </a:solidFill>
                <a:latin typeface="Liberation Sans"/>
              </a:defRPr>
            </a:pPr>
            <a:r>
              <a:t>usuários ativos/mês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402336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450" b="0">
                <a:solidFill>
                  <a:srgbClr val="18223B"/>
                </a:solidFill>
                <a:latin typeface="Liberation Sans"/>
              </a:defRPr>
            </a:pPr>
            <a:r>
              <a:t>200 pessoas + 20 empresas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517136"/>
            <a:ext cx="31089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2700" b="1">
                <a:solidFill>
                  <a:srgbClr val="18223B"/>
                </a:solidFill>
                <a:latin typeface="Liberation Sans"/>
              </a:defRPr>
            </a:pPr>
            <a:r>
              <a:t>R$ 3.678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59" y="2770632"/>
            <a:ext cx="3566160" cy="2377440"/>
          </a:xfrm>
          <a:prstGeom prst="roundRect">
            <a:avLst>
              <a:gd name="adj" fmla="val 12000"/>
            </a:avLst>
          </a:prstGeom>
          <a:solidFill>
            <a:srgbClr val="F3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59" y="2962656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3400" b="1">
                <a:solidFill>
                  <a:srgbClr val="405DF5"/>
                </a:solidFill>
                <a:latin typeface="Liberation Sans"/>
              </a:defRPr>
            </a:pPr>
            <a:r>
              <a:t>100 mil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59" y="356616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500" b="0">
                <a:solidFill>
                  <a:srgbClr val="62708A"/>
                </a:solidFill>
                <a:latin typeface="Liberation Sans"/>
              </a:defRPr>
            </a:pPr>
            <a:r>
              <a:t>usuários ativos/mês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59" y="402336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450" b="0">
                <a:solidFill>
                  <a:srgbClr val="18223B"/>
                </a:solidFill>
                <a:latin typeface="Liberation Sans"/>
              </a:defRPr>
            </a:pPr>
            <a:r>
              <a:t>2.000 pessoas + 200 empresas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59" y="4517136"/>
            <a:ext cx="31089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2700" b="1">
                <a:solidFill>
                  <a:srgbClr val="18223B"/>
                </a:solidFill>
                <a:latin typeface="Liberation Sans"/>
              </a:defRPr>
            </a:pPr>
            <a:r>
              <a:t>R$ 36.780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" y="5577840"/>
            <a:ext cx="10972800" cy="667512"/>
          </a:xfrm>
          <a:prstGeom prst="roundRect">
            <a:avLst>
              <a:gd name="adj" fmla="val 12000"/>
            </a:avLst>
          </a:prstGeom>
          <a:solidFill>
            <a:srgbClr val="F3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2648" y="5577840"/>
            <a:ext cx="41148" cy="667512"/>
          </a:xfrm>
          <a:prstGeom prst="rect">
            <a:avLst/>
          </a:prstGeom>
          <a:solidFill>
            <a:srgbClr val="405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6384" y="5687568"/>
            <a:ext cx="1060704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320" b="0">
                <a:solidFill>
                  <a:srgbClr val="17266D"/>
                </a:solidFill>
                <a:latin typeface="Liberation Sans"/>
              </a:defRPr>
            </a:pPr>
            <a:r>
              <a:t>Cenários matemáticos, não previsão nem receita atual. Conversão ilustrativa: 2% pessoas + 0,2% empresas sobre usuários ativos mensais.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con-1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4320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05256" y="256032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800" b="1">
                <a:solidFill>
                  <a:srgbClr val="18223B"/>
                </a:solidFill>
                <a:latin typeface="Liberation Sans"/>
              </a:defRPr>
            </a:pPr>
            <a:r>
              <a:t>blessed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33472" y="320040"/>
            <a:ext cx="896112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000" b="1">
                <a:solidFill>
                  <a:srgbClr val="405DF5"/>
                </a:solidFill>
                <a:latin typeface="Liberation Sans"/>
              </a:defRPr>
            </a:pPr>
            <a:r>
              <a:t>MANUTENÇÃO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09944"/>
            <a:ext cx="11000232" cy="10972"/>
          </a:xfrm>
          <a:prstGeom prst="rect">
            <a:avLst/>
          </a:prstGeom>
          <a:solidFill>
            <a:srgbClr val="DCE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6537960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810" b="0">
                <a:solidFill>
                  <a:srgbClr val="62708A"/>
                </a:solidFill>
                <a:latin typeface="Liberation Sans"/>
              </a:defRPr>
            </a:pPr>
            <a:r>
              <a:t>BLESSED  /  NEGÓCIOS  /  22 OUT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01384"/>
            <a:ext cx="78638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1100" b="1">
                <a:solidFill>
                  <a:srgbClr val="405DF5"/>
                </a:solidFill>
                <a:latin typeface="Liberation Sans"/>
              </a:defRPr>
            </a:pPr>
            <a:r>
              <a:t>16 /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841248"/>
            <a:ext cx="1097280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3000" b="1">
                <a:solidFill>
                  <a:srgbClr val="18223B"/>
                </a:solidFill>
                <a:latin typeface="Liberation Sans"/>
              </a:defRPr>
            </a:pPr>
            <a:r>
              <a:t>A infraestrutura cresce por uso.</a:t>
            </a:r>
          </a:p>
          <a:p>
            <a:pPr>
              <a:lnSpc>
                <a:spcPct val="108000"/>
              </a:lnSpc>
              <a:spcAft>
                <a:spcPts val="0"/>
              </a:spcAft>
              <a:defRPr sz="3000" b="1">
                <a:solidFill>
                  <a:srgbClr val="18223B"/>
                </a:solidFill>
                <a:latin typeface="Liberation Sans"/>
              </a:defRPr>
            </a:pPr>
            <a:r>
              <a:t>O maior custo não é só o servidor.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975104"/>
            <a:ext cx="108813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600" b="0">
                <a:solidFill>
                  <a:srgbClr val="62708A"/>
                </a:solidFill>
                <a:latin typeface="Liberation Sans"/>
              </a:defRPr>
            </a:pPr>
            <a:r>
              <a:t>Orçamento técnico ilustrativo. Câmbio de planejamento: US$ 1 = R$ 6,00; não é cotação do dia.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697480"/>
            <a:ext cx="10881360" cy="466344"/>
          </a:xfrm>
          <a:prstGeom prst="roundRect">
            <a:avLst>
              <a:gd name="adj" fmla="val 12000"/>
            </a:avLst>
          </a:prstGeom>
          <a:solidFill>
            <a:srgbClr val="405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2843784"/>
            <a:ext cx="2679191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Liberation Sans"/>
              </a:defRPr>
            </a:pPr>
            <a:r>
              <a:t>Fase ilustrativa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9311" y="2843784"/>
            <a:ext cx="345643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Liberation Sans"/>
              </a:defRPr>
            </a:pPr>
            <a:r>
              <a:t>Orçamento técnico / mês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96912" y="2843784"/>
            <a:ext cx="414223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Liberation Sans"/>
              </a:defRPr>
            </a:pPr>
            <a:r>
              <a:t>Volume de mídia usado no exemplo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163824"/>
            <a:ext cx="10881360" cy="466344"/>
          </a:xfrm>
          <a:prstGeom prst="rect">
            <a:avLst/>
          </a:prstGeom>
          <a:solidFill>
            <a:srgbClr val="F3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3291840"/>
            <a:ext cx="2670048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500" b="1">
                <a:solidFill>
                  <a:srgbClr val="18223B"/>
                </a:solidFill>
                <a:latin typeface="Liberation Sans"/>
              </a:defRPr>
            </a:pPr>
            <a:r>
              <a:t>Produção inicial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9311" y="3291840"/>
            <a:ext cx="3447288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500" b="0">
                <a:solidFill>
                  <a:srgbClr val="62708A"/>
                </a:solidFill>
                <a:latin typeface="Liberation Sans"/>
              </a:defRPr>
            </a:pPr>
            <a:r>
              <a:t>R$ 200–500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96912" y="3291840"/>
            <a:ext cx="4133087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500" b="0">
                <a:solidFill>
                  <a:srgbClr val="62708A"/>
                </a:solidFill>
                <a:latin typeface="Liberation Sans"/>
              </a:defRPr>
            </a:pPr>
            <a:r>
              <a:t>Até 100 GB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630168"/>
            <a:ext cx="10881360" cy="4663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" y="3758184"/>
            <a:ext cx="2670048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500" b="1">
                <a:solidFill>
                  <a:srgbClr val="18223B"/>
                </a:solidFill>
                <a:latin typeface="Liberation Sans"/>
              </a:defRPr>
            </a:pPr>
            <a:r>
              <a:t>1 mil ativos/mês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39311" y="3758184"/>
            <a:ext cx="3447288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500" b="0">
                <a:solidFill>
                  <a:srgbClr val="62708A"/>
                </a:solidFill>
                <a:latin typeface="Liberation Sans"/>
              </a:defRPr>
            </a:pPr>
            <a:r>
              <a:t>R$ 350–1.000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96912" y="3758184"/>
            <a:ext cx="4133087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500" b="0">
                <a:solidFill>
                  <a:srgbClr val="62708A"/>
                </a:solidFill>
                <a:latin typeface="Liberation Sans"/>
              </a:defRPr>
            </a:pPr>
            <a:r>
              <a:t>100 GB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096512"/>
            <a:ext cx="10881360" cy="466344"/>
          </a:xfrm>
          <a:prstGeom prst="rect">
            <a:avLst/>
          </a:prstGeom>
          <a:solidFill>
            <a:srgbClr val="F3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2" y="4224528"/>
            <a:ext cx="2670048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500" b="1">
                <a:solidFill>
                  <a:srgbClr val="18223B"/>
                </a:solidFill>
                <a:latin typeface="Liberation Sans"/>
              </a:defRPr>
            </a:pPr>
            <a:r>
              <a:t>10 mil ativos/mês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39311" y="4224528"/>
            <a:ext cx="3447288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500" b="0">
                <a:solidFill>
                  <a:srgbClr val="62708A"/>
                </a:solidFill>
                <a:latin typeface="Liberation Sans"/>
              </a:defRPr>
            </a:pPr>
            <a:r>
              <a:t>R$ 1.500–5.000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96912" y="4224528"/>
            <a:ext cx="4133087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500" b="0">
                <a:solidFill>
                  <a:srgbClr val="62708A"/>
                </a:solidFill>
                <a:latin typeface="Liberation Sans"/>
              </a:defRPr>
            </a:pPr>
            <a:r>
              <a:t>1 TB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562856"/>
            <a:ext cx="10881360" cy="4663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2" y="4690872"/>
            <a:ext cx="2670048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500" b="1">
                <a:solidFill>
                  <a:srgbClr val="18223B"/>
                </a:solidFill>
                <a:latin typeface="Liberation Sans"/>
              </a:defRPr>
            </a:pPr>
            <a:r>
              <a:t>100 mil ativos/mês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39311" y="4690872"/>
            <a:ext cx="3447288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500" b="0">
                <a:solidFill>
                  <a:srgbClr val="62708A"/>
                </a:solidFill>
                <a:latin typeface="Liberation Sans"/>
              </a:defRPr>
            </a:pPr>
            <a:r>
              <a:t>R$ 8.000–30.000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96912" y="4690872"/>
            <a:ext cx="4133087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500" b="0">
                <a:solidFill>
                  <a:srgbClr val="62708A"/>
                </a:solidFill>
                <a:latin typeface="Liberation Sans"/>
              </a:defRPr>
            </a:pPr>
            <a:r>
              <a:t>10 TB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5276088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280" b="0">
                <a:solidFill>
                  <a:srgbClr val="405DF5"/>
                </a:solidFill>
                <a:latin typeface="Liberation Sans"/>
              </a:defRPr>
            </a:pPr>
            <a:r>
              <a:t>Referência: Supabase Pro a partir de US$ 25/mês; R2 Standard a US$ 0,015/GB-mês, com franquia.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2648" y="5687568"/>
            <a:ext cx="10972800" cy="557784"/>
          </a:xfrm>
          <a:prstGeom prst="roundRect">
            <a:avLst>
              <a:gd name="adj" fmla="val 12000"/>
            </a:avLst>
          </a:prstGeom>
          <a:solidFill>
            <a:srgbClr val="F3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2648" y="5687568"/>
            <a:ext cx="41148" cy="557784"/>
          </a:xfrm>
          <a:prstGeom prst="rect">
            <a:avLst/>
          </a:prstGeom>
          <a:solidFill>
            <a:srgbClr val="405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6384" y="5797296"/>
            <a:ext cx="10607040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320" b="0">
                <a:solidFill>
                  <a:srgbClr val="17266D"/>
                </a:solidFill>
                <a:latin typeface="Liberation Sans"/>
              </a:defRPr>
            </a:pPr>
            <a:r>
              <a:t>Fora dessas faixas: trabalho do desenvolvedor, atendimento/moderação, jurídico, marketing, tributos e taxas de pagamento.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con-1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4320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05256" y="256032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800" b="1">
                <a:solidFill>
                  <a:srgbClr val="18223B"/>
                </a:solidFill>
                <a:latin typeface="Liberation Sans"/>
              </a:defRPr>
            </a:pPr>
            <a:r>
              <a:t>blessed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33472" y="320040"/>
            <a:ext cx="896112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000" b="1">
                <a:solidFill>
                  <a:srgbClr val="405DF5"/>
                </a:solidFill>
                <a:latin typeface="Liberation Sans"/>
              </a:defRPr>
            </a:pPr>
            <a:r>
              <a:t>QUANDO TROCAR DE PLANO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09944"/>
            <a:ext cx="11000232" cy="10972"/>
          </a:xfrm>
          <a:prstGeom prst="rect">
            <a:avLst/>
          </a:prstGeom>
          <a:solidFill>
            <a:srgbClr val="DCE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6537960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810" b="0">
                <a:solidFill>
                  <a:srgbClr val="62708A"/>
                </a:solidFill>
                <a:latin typeface="Liberation Sans"/>
              </a:defRPr>
            </a:pPr>
            <a:r>
              <a:t>BLESSED  /  NEGÓCIOS  /  22 OUT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01384"/>
            <a:ext cx="78638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1100" b="1">
                <a:solidFill>
                  <a:srgbClr val="405DF5"/>
                </a:solidFill>
                <a:latin typeface="Liberation Sans"/>
              </a:defRPr>
            </a:pPr>
            <a:r>
              <a:t>17 /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841248"/>
            <a:ext cx="1097280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3000" b="1">
                <a:solidFill>
                  <a:srgbClr val="18223B"/>
                </a:solidFill>
                <a:latin typeface="Liberation Sans"/>
              </a:defRPr>
            </a:pPr>
            <a:r>
              <a:t>Trocar o que chegou ao limite.</a:t>
            </a:r>
          </a:p>
          <a:p>
            <a:pPr>
              <a:lnSpc>
                <a:spcPct val="108000"/>
              </a:lnSpc>
              <a:spcAft>
                <a:spcPts val="0"/>
              </a:spcAft>
              <a:defRPr sz="3000" b="1">
                <a:solidFill>
                  <a:srgbClr val="18223B"/>
                </a:solidFill>
                <a:latin typeface="Liberation Sans"/>
              </a:defRPr>
            </a:pPr>
            <a:r>
              <a:t>Não aumentar tudo ao mesmo tempo.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606040"/>
            <a:ext cx="3566160" cy="2496312"/>
          </a:xfrm>
          <a:prstGeom prst="roundRect">
            <a:avLst>
              <a:gd name="adj" fmla="val 12000"/>
            </a:avLst>
          </a:prstGeom>
          <a:solidFill>
            <a:srgbClr val="F3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77063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300" b="1">
                <a:solidFill>
                  <a:srgbClr val="405DF5"/>
                </a:solidFill>
                <a:latin typeface="Liberation San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6152" y="2788920"/>
            <a:ext cx="2807208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900" b="1">
                <a:solidFill>
                  <a:srgbClr val="18223B"/>
                </a:solidFill>
                <a:latin typeface="Liberation Sans"/>
              </a:defRPr>
            </a:pPr>
            <a:r>
              <a:t>Supabase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383280"/>
            <a:ext cx="3163824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500" b="0">
                <a:solidFill>
                  <a:srgbClr val="62708A"/>
                </a:solidFill>
                <a:latin typeface="Liberation Sans"/>
              </a:defRPr>
            </a:pPr>
            <a:r>
              <a:t>Sair do Free para produção; ampliar compute e cotas conforme latência, conexões, espaço e tráfego.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2606040"/>
            <a:ext cx="3566160" cy="2496312"/>
          </a:xfrm>
          <a:prstGeom prst="roundRect">
            <a:avLst>
              <a:gd name="adj" fmla="val 12000"/>
            </a:avLst>
          </a:prstGeom>
          <a:solidFill>
            <a:srgbClr val="F3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277063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300" b="1">
                <a:solidFill>
                  <a:srgbClr val="405DF5"/>
                </a:solidFill>
                <a:latin typeface="Liberation San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65192" y="2788920"/>
            <a:ext cx="2807208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900" b="1">
                <a:solidFill>
                  <a:srgbClr val="18223B"/>
                </a:solidFill>
                <a:latin typeface="Liberation Sans"/>
              </a:defRPr>
            </a:pPr>
            <a:r>
              <a:t>Vídeo / R2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3383280"/>
            <a:ext cx="3163824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500" b="0">
                <a:solidFill>
                  <a:srgbClr val="62708A"/>
                </a:solidFill>
                <a:latin typeface="Liberation Sans"/>
              </a:defRPr>
            </a:pPr>
            <a:r>
              <a:t>Franquia de 10 GB-mês no Standard. Depois, uso pago; processamento e entrega exigem monitoramento próprio.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59" y="2606040"/>
            <a:ext cx="3566160" cy="2496312"/>
          </a:xfrm>
          <a:prstGeom prst="roundRect">
            <a:avLst>
              <a:gd name="adj" fmla="val 12000"/>
            </a:avLst>
          </a:prstGeom>
          <a:solidFill>
            <a:srgbClr val="F3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9327" y="277063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300" b="1">
                <a:solidFill>
                  <a:srgbClr val="405DF5"/>
                </a:solidFill>
                <a:latin typeface="Liberation San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14232" y="2788920"/>
            <a:ext cx="2807208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900" b="1">
                <a:solidFill>
                  <a:srgbClr val="18223B"/>
                </a:solidFill>
                <a:latin typeface="Liberation Sans"/>
              </a:defRPr>
            </a:pPr>
            <a:r>
              <a:t>Site e serviços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7" y="3383280"/>
            <a:ext cx="3163824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500" b="0">
                <a:solidFill>
                  <a:srgbClr val="62708A"/>
                </a:solidFill>
                <a:latin typeface="Liberation Sans"/>
              </a:defRPr>
            </a:pPr>
            <a:r>
              <a:t>Revisar hospedagem comercial/CDN, e-mail transacional, logs, backups e TURN para voz.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" y="5650992"/>
            <a:ext cx="10972800" cy="594360"/>
          </a:xfrm>
          <a:prstGeom prst="roundRect">
            <a:avLst>
              <a:gd name="adj" fmla="val 12000"/>
            </a:avLst>
          </a:prstGeom>
          <a:solidFill>
            <a:srgbClr val="F3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8" y="5650992"/>
            <a:ext cx="41148" cy="594360"/>
          </a:xfrm>
          <a:prstGeom prst="rect">
            <a:avLst/>
          </a:prstGeom>
          <a:solidFill>
            <a:srgbClr val="405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5760720"/>
            <a:ext cx="1060704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320" b="0">
                <a:solidFill>
                  <a:srgbClr val="17266D"/>
                </a:solidFill>
                <a:latin typeface="Liberation Sans"/>
              </a:defRPr>
            </a:pPr>
            <a:r>
              <a:t>Alertar aos 70% das cotas, revisar aos 85% e ampliar antes de comprometer a experiência. São regras operacionais propostas.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con-1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4320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05256" y="256032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800" b="1">
                <a:solidFill>
                  <a:srgbClr val="18223B"/>
                </a:solidFill>
                <a:latin typeface="Liberation Sans"/>
              </a:defRPr>
            </a:pPr>
            <a:r>
              <a:t>blessed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33472" y="320040"/>
            <a:ext cx="896112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000" b="1">
                <a:solidFill>
                  <a:srgbClr val="405DF5"/>
                </a:solidFill>
                <a:latin typeface="Liberation Sans"/>
              </a:defRPr>
            </a:pPr>
            <a:r>
              <a:t>PRÓXIMOS 90 DIAS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09944"/>
            <a:ext cx="11000232" cy="10972"/>
          </a:xfrm>
          <a:prstGeom prst="rect">
            <a:avLst/>
          </a:prstGeom>
          <a:solidFill>
            <a:srgbClr val="DCE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6537960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810" b="0">
                <a:solidFill>
                  <a:srgbClr val="62708A"/>
                </a:solidFill>
                <a:latin typeface="Liberation Sans"/>
              </a:defRPr>
            </a:pPr>
            <a:r>
              <a:t>BLESSED  /  NEGÓCIOS  /  22 OUT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01384"/>
            <a:ext cx="78638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1100" b="1">
                <a:solidFill>
                  <a:srgbClr val="405DF5"/>
                </a:solidFill>
                <a:latin typeface="Liberation Sans"/>
              </a:defRPr>
            </a:pPr>
            <a:r>
              <a:t>18 /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841248"/>
            <a:ext cx="1097280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3000" b="1">
                <a:solidFill>
                  <a:srgbClr val="18223B"/>
                </a:solidFill>
                <a:latin typeface="Liberation Sans"/>
              </a:defRPr>
            </a:pPr>
            <a:r>
              <a:t>Financiar evidências,</a:t>
            </a:r>
          </a:p>
          <a:p>
            <a:pPr>
              <a:lnSpc>
                <a:spcPct val="108000"/>
              </a:lnSpc>
              <a:spcAft>
                <a:spcPts val="0"/>
              </a:spcAft>
              <a:defRPr sz="3000" b="1">
                <a:solidFill>
                  <a:srgbClr val="18223B"/>
                </a:solidFill>
                <a:latin typeface="Liberation Sans"/>
              </a:defRPr>
            </a:pPr>
            <a:r>
              <a:t>não apenas funcionalidades.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514600"/>
            <a:ext cx="3575304" cy="2606040"/>
          </a:xfrm>
          <a:prstGeom prst="roundRect">
            <a:avLst>
              <a:gd name="adj" fmla="val 12000"/>
            </a:avLst>
          </a:prstGeom>
          <a:solidFill>
            <a:srgbClr val="F3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761488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2200" b="1">
                <a:solidFill>
                  <a:srgbClr val="405DF5"/>
                </a:solidFill>
                <a:latin typeface="Liberation Sans"/>
              </a:defRPr>
            </a:pPr>
            <a:r>
              <a:t>0–30 dias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4290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2100" b="1">
                <a:solidFill>
                  <a:srgbClr val="18223B"/>
                </a:solidFill>
                <a:latin typeface="Liberation Sans"/>
              </a:defRPr>
            </a:pPr>
            <a:r>
              <a:t>Estabilizar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014215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700" b="0">
                <a:solidFill>
                  <a:srgbClr val="62708A"/>
                </a:solidFill>
                <a:latin typeface="Liberation Sans"/>
              </a:defRPr>
            </a:pPr>
            <a:r>
              <a:t>Medição de funil, auditoria de acesso, backups e testes de carga.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2514600"/>
            <a:ext cx="3575304" cy="2606040"/>
          </a:xfrm>
          <a:prstGeom prst="roundRect">
            <a:avLst>
              <a:gd name="adj" fmla="val 12000"/>
            </a:avLst>
          </a:prstGeom>
          <a:solidFill>
            <a:srgbClr val="F3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2761488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2200" b="1">
                <a:solidFill>
                  <a:srgbClr val="405DF5"/>
                </a:solidFill>
                <a:latin typeface="Liberation Sans"/>
              </a:defRPr>
            </a:pPr>
            <a:r>
              <a:t>31–60 dias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34290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2100" b="1">
                <a:solidFill>
                  <a:srgbClr val="18223B"/>
                </a:solidFill>
                <a:latin typeface="Liberation Sans"/>
              </a:defRPr>
            </a:pPr>
            <a:r>
              <a:t>Operar o piloto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4014215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700" b="0">
                <a:solidFill>
                  <a:srgbClr val="62708A"/>
                </a:solidFill>
                <a:latin typeface="Liberation Sans"/>
              </a:defRPr>
            </a:pPr>
            <a:r>
              <a:t>Curadoria de criadores e primeiras campanhas com empresas.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59" y="2514600"/>
            <a:ext cx="3575304" cy="2606040"/>
          </a:xfrm>
          <a:prstGeom prst="roundRect">
            <a:avLst>
              <a:gd name="adj" fmla="val 12000"/>
            </a:avLst>
          </a:prstGeom>
          <a:solidFill>
            <a:srgbClr val="F3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59" y="2761488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2200" b="1">
                <a:solidFill>
                  <a:srgbClr val="405DF5"/>
                </a:solidFill>
                <a:latin typeface="Liberation Sans"/>
              </a:defRPr>
            </a:pPr>
            <a:r>
              <a:t>61–90 dias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59" y="34290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2100" b="1">
                <a:solidFill>
                  <a:srgbClr val="18223B"/>
                </a:solidFill>
                <a:latin typeface="Liberation Sans"/>
              </a:defRPr>
            </a:pPr>
            <a:r>
              <a:t>Decidir a escala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59" y="4014215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700" b="0">
                <a:solidFill>
                  <a:srgbClr val="62708A"/>
                </a:solidFill>
                <a:latin typeface="Liberation Sans"/>
              </a:defRPr>
            </a:pPr>
            <a:r>
              <a:t>Medir retenção, entregas e recompra; integrar pagamentos se houver demanda.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" y="5641848"/>
            <a:ext cx="10972800" cy="594360"/>
          </a:xfrm>
          <a:prstGeom prst="roundRect">
            <a:avLst>
              <a:gd name="adj" fmla="val 12000"/>
            </a:avLst>
          </a:prstGeom>
          <a:solidFill>
            <a:srgbClr val="F3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8" y="5641848"/>
            <a:ext cx="41148" cy="594360"/>
          </a:xfrm>
          <a:prstGeom prst="rect">
            <a:avLst/>
          </a:prstGeom>
          <a:solidFill>
            <a:srgbClr val="405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5751576"/>
            <a:ext cx="1060704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320" b="0">
                <a:solidFill>
                  <a:srgbClr val="17266D"/>
                </a:solidFill>
                <a:latin typeface="Liberation Sans"/>
              </a:defRPr>
            </a:pPr>
            <a:r>
              <a:t>Metas de piloto propostas: 20 criadores, 10 empresas e 5 campanhas concluídas. Não são números já alcançados.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3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con-1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4320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05256" y="256032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800" b="1">
                <a:solidFill>
                  <a:srgbClr val="FFFFFF"/>
                </a:solidFill>
                <a:latin typeface="Liberation Sans"/>
              </a:defRPr>
            </a:pPr>
            <a:r>
              <a:t>blessed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33472" y="320040"/>
            <a:ext cx="896112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000" b="1">
                <a:solidFill>
                  <a:srgbClr val="BBC8FF"/>
                </a:solidFill>
                <a:latin typeface="Liberation Sans"/>
              </a:defRPr>
            </a:pPr>
            <a:r>
              <a:t>POR QUE INVESTIR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09944"/>
            <a:ext cx="11000232" cy="10972"/>
          </a:xfrm>
          <a:prstGeom prst="rect">
            <a:avLst/>
          </a:prstGeom>
          <a:solidFill>
            <a:srgbClr val="26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6537960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810" b="0">
                <a:solidFill>
                  <a:srgbClr val="BBC8FF"/>
                </a:solidFill>
                <a:latin typeface="Liberation Sans"/>
              </a:defRPr>
            </a:pPr>
            <a:r>
              <a:t>BLESSED  /  NEGÓCIOS  /  22 OUT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01384"/>
            <a:ext cx="78638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1100" b="1">
                <a:solidFill>
                  <a:srgbClr val="BBC8FF"/>
                </a:solidFill>
                <a:latin typeface="Liberation Sans"/>
              </a:defRPr>
            </a:pPr>
            <a:r>
              <a:t>19 /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841248"/>
            <a:ext cx="1097280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3000" b="1">
                <a:solidFill>
                  <a:srgbClr val="FFFFFF"/>
                </a:solidFill>
                <a:latin typeface="Liberation Sans"/>
              </a:defRPr>
            </a:pPr>
            <a:r>
              <a:t>Produto construído.</a:t>
            </a:r>
          </a:p>
          <a:p>
            <a:pPr>
              <a:lnSpc>
                <a:spcPct val="108000"/>
              </a:lnSpc>
              <a:spcAft>
                <a:spcPts val="0"/>
              </a:spcAft>
              <a:defRPr sz="3000" b="1">
                <a:solidFill>
                  <a:srgbClr val="FFFFFF"/>
                </a:solidFill>
                <a:latin typeface="Liberation Sans"/>
              </a:defRPr>
            </a:pPr>
            <a:r>
              <a:t>Capital para validar a operação.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975104"/>
            <a:ext cx="108813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600" b="0">
                <a:solidFill>
                  <a:srgbClr val="BBC8FF"/>
                </a:solidFill>
                <a:latin typeface="Liberation Sans"/>
              </a:defRPr>
            </a:pPr>
            <a:r>
              <a:t>Valor, instrumento e participação ficam em aberto para a negociação.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770632"/>
            <a:ext cx="2670048" cy="2011680"/>
          </a:xfrm>
          <a:prstGeom prst="roundRect">
            <a:avLst>
              <a:gd name="adj" fmla="val 12000"/>
            </a:avLst>
          </a:prstGeom>
          <a:solidFill>
            <a:srgbClr val="162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3035808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4200" b="1">
                <a:solidFill>
                  <a:srgbClr val="BBC8FF"/>
                </a:solidFill>
                <a:latin typeface="Liberation Sans"/>
              </a:defRPr>
            </a:pPr>
            <a:r>
              <a:t>40%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950208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800" b="0">
                <a:solidFill>
                  <a:srgbClr val="FFFFFF"/>
                </a:solidFill>
                <a:latin typeface="Liberation Sans"/>
              </a:defRPr>
            </a:pPr>
            <a:r>
              <a:t>Produto e confiabilidade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56432" y="2770632"/>
            <a:ext cx="2670048" cy="2011680"/>
          </a:xfrm>
          <a:prstGeom prst="roundRect">
            <a:avLst>
              <a:gd name="adj" fmla="val 12000"/>
            </a:avLst>
          </a:prstGeom>
          <a:solidFill>
            <a:srgbClr val="162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3035808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4200" b="1">
                <a:solidFill>
                  <a:srgbClr val="BBC8FF"/>
                </a:solidFill>
                <a:latin typeface="Liberation Sans"/>
              </a:defRPr>
            </a:pPr>
            <a:r>
              <a:t>25%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950208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800" b="0">
                <a:solidFill>
                  <a:srgbClr val="FFFFFF"/>
                </a:solidFill>
                <a:latin typeface="Liberation Sans"/>
              </a:defRPr>
            </a:pPr>
            <a:r>
              <a:t>Operação comercial e parcerias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2784" y="2770632"/>
            <a:ext cx="2670048" cy="2011680"/>
          </a:xfrm>
          <a:prstGeom prst="roundRect">
            <a:avLst>
              <a:gd name="adj" fmla="val 12000"/>
            </a:avLst>
          </a:prstGeom>
          <a:solidFill>
            <a:srgbClr val="162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3952" y="3035808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4200" b="1">
                <a:solidFill>
                  <a:srgbClr val="BBC8FF"/>
                </a:solidFill>
                <a:latin typeface="Liberation Sans"/>
              </a:defRPr>
            </a:pPr>
            <a:r>
              <a:t>20%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3950208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800" b="0">
                <a:solidFill>
                  <a:srgbClr val="FFFFFF"/>
                </a:solidFill>
                <a:latin typeface="Liberation Sans"/>
              </a:defRPr>
            </a:pPr>
            <a:r>
              <a:t>Aquisição e comunidade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89136" y="2770632"/>
            <a:ext cx="2670048" cy="2011680"/>
          </a:xfrm>
          <a:prstGeom prst="roundRect">
            <a:avLst>
              <a:gd name="adj" fmla="val 12000"/>
            </a:avLst>
          </a:prstGeom>
          <a:solidFill>
            <a:srgbClr val="162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90304" y="3035808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4200" b="1">
                <a:solidFill>
                  <a:srgbClr val="BBC8FF"/>
                </a:solidFill>
                <a:latin typeface="Liberation Sans"/>
              </a:defRPr>
            </a:pPr>
            <a:r>
              <a:t>15%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90304" y="3950208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800" b="0">
                <a:solidFill>
                  <a:srgbClr val="FFFFFF"/>
                </a:solidFill>
                <a:latin typeface="Liberation Sans"/>
              </a:defRPr>
            </a:pPr>
            <a:r>
              <a:t>Segurança, jurídico e reserva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" y="5596128"/>
            <a:ext cx="10972800" cy="630936"/>
          </a:xfrm>
          <a:prstGeom prst="roundRect">
            <a:avLst>
              <a:gd name="adj" fmla="val 12000"/>
            </a:avLst>
          </a:prstGeom>
          <a:solidFill>
            <a:srgbClr val="1A2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648" y="5596128"/>
            <a:ext cx="41148" cy="630936"/>
          </a:xfrm>
          <a:prstGeom prst="rect">
            <a:avLst/>
          </a:prstGeom>
          <a:solidFill>
            <a:srgbClr val="BB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6384" y="5705856"/>
            <a:ext cx="10607040" cy="4846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320" b="0">
                <a:solidFill>
                  <a:srgbClr val="BBC8FF"/>
                </a:solidFill>
                <a:latin typeface="Liberation Sans"/>
              </a:defRPr>
            </a:pPr>
            <a:r>
              <a:t>Distribuição ilustrativa. Liberar recursos por marcos: estabilidade, campanhas concluídas e retenção observada.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3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con-1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4320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05256" y="256032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800" b="1">
                <a:solidFill>
                  <a:srgbClr val="FFFFFF"/>
                </a:solidFill>
                <a:latin typeface="Liberation Sans"/>
              </a:defRPr>
            </a:pPr>
            <a:r>
              <a:t>blessed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33472" y="320040"/>
            <a:ext cx="896112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000" b="1">
                <a:solidFill>
                  <a:srgbClr val="BBC8FF"/>
                </a:solidFill>
                <a:latin typeface="Liberation Sans"/>
              </a:defRPr>
            </a:pPr>
            <a:r>
              <a:t>O PRÓXIMO PASSO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09944"/>
            <a:ext cx="11000232" cy="10972"/>
          </a:xfrm>
          <a:prstGeom prst="rect">
            <a:avLst/>
          </a:prstGeom>
          <a:solidFill>
            <a:srgbClr val="26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6537960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810" b="0">
                <a:solidFill>
                  <a:srgbClr val="BBC8FF"/>
                </a:solidFill>
                <a:latin typeface="Liberation Sans"/>
              </a:defRPr>
            </a:pPr>
            <a:r>
              <a:t>BLESSED  /  NEGÓCIOS  /  22 OUT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01384"/>
            <a:ext cx="78638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1100" b="1">
                <a:solidFill>
                  <a:srgbClr val="BBC8FF"/>
                </a:solidFill>
                <a:latin typeface="Liberation Sans"/>
              </a:defRPr>
            </a:pPr>
            <a:r>
              <a:t>20 /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8366760" y="0"/>
            <a:ext cx="3824935" cy="6400800"/>
          </a:xfrm>
          <a:prstGeom prst="rect">
            <a:avLst/>
          </a:prstGeom>
          <a:solidFill>
            <a:srgbClr val="152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875520" y="0"/>
            <a:ext cx="2316175" cy="6400800"/>
          </a:xfrm>
          <a:prstGeom prst="rect">
            <a:avLst/>
          </a:prstGeom>
          <a:solidFill>
            <a:srgbClr val="1C2E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508760"/>
            <a:ext cx="777240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4700" b="1">
                <a:solidFill>
                  <a:srgbClr val="FFFFFF"/>
                </a:solidFill>
                <a:latin typeface="Liberation Sans"/>
              </a:defRPr>
            </a:pPr>
            <a:r>
              <a:t>Vamos transformar</a:t>
            </a:r>
          </a:p>
          <a:p>
            <a:pPr>
              <a:lnSpc>
                <a:spcPct val="108000"/>
              </a:lnSpc>
              <a:spcAft>
                <a:spcPts val="0"/>
              </a:spcAft>
              <a:defRPr sz="4700" b="1">
                <a:solidFill>
                  <a:srgbClr val="FFFFFF"/>
                </a:solidFill>
                <a:latin typeface="Liberation Sans"/>
              </a:defRPr>
            </a:pPr>
            <a:r>
              <a:t>comunidade em</a:t>
            </a:r>
          </a:p>
          <a:p>
            <a:pPr>
              <a:lnSpc>
                <a:spcPct val="108000"/>
              </a:lnSpc>
              <a:spcAft>
                <a:spcPts val="0"/>
              </a:spcAft>
              <a:defRPr sz="4700" b="1">
                <a:solidFill>
                  <a:srgbClr val="FFFFFF"/>
                </a:solidFill>
                <a:latin typeface="Liberation Sans"/>
              </a:defRPr>
            </a:pPr>
            <a:r>
              <a:t>oportunidade.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462272"/>
            <a:ext cx="65836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2000" b="0">
                <a:solidFill>
                  <a:srgbClr val="BBC8FF"/>
                </a:solidFill>
                <a:latin typeface="Liberation Sans"/>
              </a:defRPr>
            </a:pPr>
            <a:r>
              <a:t>Proposta: uma reunião de trabalho para fechar escopo, orçamento e critérios do piloto.</a:t>
            </a:r>
          </a:p>
        </p:txBody>
      </p:sp>
      <p:pic>
        <p:nvPicPr>
          <p:cNvPr id="12" name="Picture 11" descr="icone-blessed-arredondad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7112" y="2148840"/>
            <a:ext cx="2286000" cy="2286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85800" y="577900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500" b="0">
                <a:solidFill>
                  <a:srgbClr val="BBC8FF"/>
                </a:solidFill>
                <a:latin typeface="Liberation Sans"/>
              </a:defRPr>
            </a:pPr>
            <a:r>
              <a:t>Apresentação do desenvolvedor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099048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300" b="0">
                <a:solidFill>
                  <a:srgbClr val="BBC8FF"/>
                </a:solidFill>
                <a:latin typeface="Liberation Sans"/>
              </a:defRPr>
            </a:pPr>
            <a:r>
              <a:t>blessedcomunidade.com.br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con-1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4320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05256" y="256032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800" b="1">
                <a:solidFill>
                  <a:srgbClr val="18223B"/>
                </a:solidFill>
                <a:latin typeface="Liberation Sans"/>
              </a:defRPr>
            </a:pPr>
            <a:r>
              <a:t>blessed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33472" y="320040"/>
            <a:ext cx="896112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000" b="1">
                <a:solidFill>
                  <a:srgbClr val="405DF5"/>
                </a:solidFill>
                <a:latin typeface="Liberation Sans"/>
              </a:defRPr>
            </a:pPr>
            <a:r>
              <a:t>ANEXO · ESTADO DO PRODUTO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097280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3100" b="1">
                <a:solidFill>
                  <a:srgbClr val="18223B"/>
                </a:solidFill>
                <a:latin typeface="Liberation Sans"/>
              </a:defRPr>
            </a:pPr>
            <a:r>
              <a:t>O que existe e o que precisa ser concluído.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09944"/>
            <a:ext cx="11000232" cy="10972"/>
          </a:xfrm>
          <a:prstGeom prst="rect">
            <a:avLst/>
          </a:prstGeom>
          <a:solidFill>
            <a:srgbClr val="DCE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6537960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810" b="0">
                <a:solidFill>
                  <a:srgbClr val="62708A"/>
                </a:solidFill>
                <a:latin typeface="Liberation Sans"/>
              </a:defRPr>
            </a:pPr>
            <a:r>
              <a:t>BLESSED  /  NEGÓCIOS  /  22 OUT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01384"/>
            <a:ext cx="78638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1100" b="1">
                <a:solidFill>
                  <a:srgbClr val="405DF5"/>
                </a:solidFill>
                <a:latin typeface="Liberation Sans"/>
              </a:defRPr>
            </a:pPr>
            <a:r>
              <a:t>A1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10881360" cy="429768"/>
          </a:xfrm>
          <a:prstGeom prst="roundRect">
            <a:avLst>
              <a:gd name="adj" fmla="val 12000"/>
            </a:avLst>
          </a:prstGeom>
          <a:solidFill>
            <a:srgbClr val="405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295144"/>
            <a:ext cx="4828032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400" b="1">
                <a:solidFill>
                  <a:srgbClr val="FFFFFF"/>
                </a:solidFill>
                <a:latin typeface="Liberation Sans"/>
              </a:defRPr>
            </a:pPr>
            <a:r>
              <a:t>Recurso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88152" y="2295144"/>
            <a:ext cx="5650992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400" b="1">
                <a:solidFill>
                  <a:srgbClr val="FFFFFF"/>
                </a:solidFill>
                <a:latin typeface="Liberation Sans"/>
              </a:defRPr>
            </a:pPr>
            <a:r>
              <a:t>Estado identificado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578608"/>
            <a:ext cx="10881360" cy="429768"/>
          </a:xfrm>
          <a:prstGeom prst="rect">
            <a:avLst/>
          </a:prstGeom>
          <a:solidFill>
            <a:srgbClr val="F3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2706624"/>
            <a:ext cx="4818888" cy="3017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400" b="1">
                <a:solidFill>
                  <a:srgbClr val="18223B"/>
                </a:solidFill>
                <a:latin typeface="Liberation Sans"/>
              </a:defRPr>
            </a:pPr>
            <a:r>
              <a:t>Feed, pensamento, perfil e descoberta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88152" y="2706624"/>
            <a:ext cx="5641848" cy="3017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400" b="0">
                <a:solidFill>
                  <a:srgbClr val="62708A"/>
                </a:solidFill>
                <a:latin typeface="Liberation Sans"/>
              </a:defRPr>
            </a:pPr>
            <a:r>
              <a:t>Implementados na interface e no projeto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008376"/>
            <a:ext cx="10881360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3136392"/>
            <a:ext cx="4818888" cy="3017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400" b="1">
                <a:solidFill>
                  <a:srgbClr val="18223B"/>
                </a:solidFill>
                <a:latin typeface="Liberation Sans"/>
              </a:defRPr>
            </a:pPr>
            <a:r>
              <a:t>Momentos e métricas sociais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88152" y="3136392"/>
            <a:ext cx="5641848" cy="3017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400" b="0">
                <a:solidFill>
                  <a:srgbClr val="62708A"/>
                </a:solidFill>
                <a:latin typeface="Liberation Sans"/>
              </a:defRPr>
            </a:pPr>
            <a:r>
              <a:t>Implementados; validar produção e mídia por aparelho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438144"/>
            <a:ext cx="10881360" cy="429768"/>
          </a:xfrm>
          <a:prstGeom prst="rect">
            <a:avLst/>
          </a:prstGeom>
          <a:solidFill>
            <a:srgbClr val="F3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" y="3566160"/>
            <a:ext cx="4818888" cy="3017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400" b="1">
                <a:solidFill>
                  <a:srgbClr val="18223B"/>
                </a:solidFill>
                <a:latin typeface="Liberation Sans"/>
              </a:defRPr>
            </a:pPr>
            <a:r>
              <a:t>Chat, fotos, áudios e voz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88152" y="3566160"/>
            <a:ext cx="5641848" cy="3017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400" b="0">
                <a:solidFill>
                  <a:srgbClr val="62708A"/>
                </a:solidFill>
                <a:latin typeface="Liberation Sans"/>
              </a:defRPr>
            </a:pPr>
            <a:r>
              <a:t>Implementados; testar entrega e conectividade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867912"/>
            <a:ext cx="10881360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2" y="3995928"/>
            <a:ext cx="4818888" cy="3017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400" b="1">
                <a:solidFill>
                  <a:srgbClr val="18223B"/>
                </a:solidFill>
                <a:latin typeface="Liberation Sans"/>
              </a:defRPr>
            </a:pPr>
            <a:r>
              <a:t>Cadastro de interesses e portfólio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88152" y="3995928"/>
            <a:ext cx="5641848" cy="3017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400" b="0">
                <a:solidFill>
                  <a:srgbClr val="62708A"/>
                </a:solidFill>
                <a:latin typeface="Liberation Sans"/>
              </a:defRPr>
            </a:pPr>
            <a:r>
              <a:t>Implementado para o criador/equipe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4297679"/>
            <a:ext cx="10881360" cy="429768"/>
          </a:xfrm>
          <a:prstGeom prst="rect">
            <a:avLst/>
          </a:prstGeom>
          <a:solidFill>
            <a:srgbClr val="F3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952" y="4425695"/>
            <a:ext cx="4818888" cy="3017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400" b="1">
                <a:solidFill>
                  <a:srgbClr val="18223B"/>
                </a:solidFill>
                <a:latin typeface="Liberation Sans"/>
              </a:defRPr>
            </a:pPr>
            <a:r>
              <a:t>Busca comercial de portfólios e solicitações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88152" y="4425695"/>
            <a:ext cx="5641848" cy="3017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400" b="0">
                <a:solidFill>
                  <a:srgbClr val="62708A"/>
                </a:solidFill>
                <a:latin typeface="Liberation Sans"/>
              </a:defRPr>
            </a:pPr>
            <a:r>
              <a:t>Próxima entrega; marketplace incompleto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4727448"/>
            <a:ext cx="10881360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8952" y="4855464"/>
            <a:ext cx="4818888" cy="3017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400" b="1">
                <a:solidFill>
                  <a:srgbClr val="18223B"/>
                </a:solidFill>
                <a:latin typeface="Liberation Sans"/>
              </a:defRPr>
            </a:pPr>
            <a:r>
              <a:t>Painel de ganhos e histórico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88152" y="4855464"/>
            <a:ext cx="5641848" cy="3017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400" b="0">
                <a:solidFill>
                  <a:srgbClr val="62708A"/>
                </a:solidFill>
                <a:latin typeface="Liberation Sans"/>
              </a:defRPr>
            </a:pPr>
            <a:r>
              <a:t>Estruturado; pagamentos e saques desativados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5157216"/>
            <a:ext cx="10881360" cy="429768"/>
          </a:xfrm>
          <a:prstGeom prst="rect">
            <a:avLst/>
          </a:prstGeom>
          <a:solidFill>
            <a:srgbClr val="F3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8952" y="5285232"/>
            <a:ext cx="4818888" cy="3017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400" b="1">
                <a:solidFill>
                  <a:srgbClr val="18223B"/>
                </a:solidFill>
                <a:latin typeface="Liberation Sans"/>
              </a:defRPr>
            </a:pPr>
            <a:r>
              <a:t>Cinema com assinatura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88152" y="5285232"/>
            <a:ext cx="5641848" cy="3017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400" b="0">
                <a:solidFill>
                  <a:srgbClr val="62708A"/>
                </a:solidFill>
                <a:latin typeface="Liberation Sans"/>
              </a:defRPr>
            </a:pPr>
            <a:r>
              <a:t>Interface e controle previstos; cobrança pendente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5586983"/>
            <a:ext cx="10881360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8952" y="5714999"/>
            <a:ext cx="4818888" cy="3017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400" b="1">
                <a:solidFill>
                  <a:srgbClr val="18223B"/>
                </a:solidFill>
                <a:latin typeface="Liberation Sans"/>
              </a:defRPr>
            </a:pPr>
            <a:r>
              <a:t>Segurança ponta a ponta / certificação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88152" y="5714999"/>
            <a:ext cx="5641848" cy="3017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400" b="0">
                <a:solidFill>
                  <a:srgbClr val="62708A"/>
                </a:solidFill>
                <a:latin typeface="Liberation Sans"/>
              </a:defRPr>
            </a:pPr>
            <a:r>
              <a:t>Não implementada / não apresentada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6181344"/>
            <a:ext cx="10607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000" b="0">
                <a:solidFill>
                  <a:srgbClr val="62708A"/>
                </a:solidFill>
                <a:latin typeface="Liberation Sans"/>
              </a:defRPr>
            </a:pPr>
            <a:r>
              <a:t>“Implementado” descreve a revisão do projeto; não substitui uma auditoria independente do ambiente de produção.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con-1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4320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05256" y="256032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800" b="1">
                <a:solidFill>
                  <a:srgbClr val="18223B"/>
                </a:solidFill>
                <a:latin typeface="Liberation Sans"/>
              </a:defRPr>
            </a:pPr>
            <a:r>
              <a:t>blessed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33472" y="320040"/>
            <a:ext cx="896112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000" b="1">
                <a:solidFill>
                  <a:srgbClr val="405DF5"/>
                </a:solidFill>
                <a:latin typeface="Liberation Sans"/>
              </a:defRPr>
            </a:pPr>
            <a:r>
              <a:t>ANEXO · CUSTOS OFICIAIS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097280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3100" b="1">
                <a:solidFill>
                  <a:srgbClr val="18223B"/>
                </a:solidFill>
                <a:latin typeface="Liberation Sans"/>
              </a:defRPr>
            </a:pPr>
            <a:r>
              <a:t>Planos, cotas e serviços a revisar.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98424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600" b="0">
                <a:solidFill>
                  <a:srgbClr val="62708A"/>
                </a:solidFill>
                <a:latin typeface="Liberation Sans"/>
              </a:defRPr>
            </a:pPr>
            <a:r>
              <a:t>Preços públicos em dólares. Conferidos no código/documentação oficiais em 22/10/2026.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409944"/>
            <a:ext cx="11000232" cy="10972"/>
          </a:xfrm>
          <a:prstGeom prst="rect">
            <a:avLst/>
          </a:prstGeom>
          <a:solidFill>
            <a:srgbClr val="DCE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6537960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810" b="0">
                <a:solidFill>
                  <a:srgbClr val="62708A"/>
                </a:solidFill>
                <a:latin typeface="Liberation Sans"/>
              </a:defRPr>
            </a:pPr>
            <a:r>
              <a:t>BLESSED  /  NEGÓCIOS  /  22 OUT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01384"/>
            <a:ext cx="78638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1100" b="1">
                <a:solidFill>
                  <a:srgbClr val="405DF5"/>
                </a:solidFill>
                <a:latin typeface="Liberation Sans"/>
              </a:defRPr>
            </a:pPr>
            <a:r>
              <a:t>A2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606040"/>
            <a:ext cx="10881360" cy="429768"/>
          </a:xfrm>
          <a:prstGeom prst="roundRect">
            <a:avLst>
              <a:gd name="adj" fmla="val 12000"/>
            </a:avLst>
          </a:prstGeom>
          <a:solidFill>
            <a:srgbClr val="405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2752344"/>
            <a:ext cx="2770632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250" b="1">
                <a:solidFill>
                  <a:srgbClr val="FFFFFF"/>
                </a:solidFill>
                <a:latin typeface="Liberation Sans"/>
              </a:defRPr>
            </a:pPr>
            <a:r>
              <a:t>Serviço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30752" y="2752344"/>
            <a:ext cx="3200400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250" b="1">
                <a:solidFill>
                  <a:srgbClr val="FFFFFF"/>
                </a:solidFill>
                <a:latin typeface="Liberation Sans"/>
              </a:defRPr>
            </a:pPr>
            <a:r>
              <a:t>Referência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2752344"/>
            <a:ext cx="4306824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250" b="1">
                <a:solidFill>
                  <a:srgbClr val="FFFFFF"/>
                </a:solidFill>
                <a:latin typeface="Liberation Sans"/>
              </a:defRPr>
            </a:pPr>
            <a:r>
              <a:t>Cotas / observações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035808"/>
            <a:ext cx="10881360" cy="429768"/>
          </a:xfrm>
          <a:prstGeom prst="rect">
            <a:avLst/>
          </a:prstGeom>
          <a:solidFill>
            <a:srgbClr val="F3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3163824"/>
            <a:ext cx="2761488" cy="3017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250" b="1">
                <a:solidFill>
                  <a:srgbClr val="18223B"/>
                </a:solidFill>
                <a:latin typeface="Liberation Sans"/>
              </a:defRPr>
            </a:pPr>
            <a:r>
              <a:t>Supabase Free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30752" y="3163824"/>
            <a:ext cx="3191256" cy="3017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250" b="0">
                <a:solidFill>
                  <a:srgbClr val="62708A"/>
                </a:solidFill>
                <a:latin typeface="Liberation Sans"/>
              </a:defRPr>
            </a:pPr>
            <a:r>
              <a:t>US$ 0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3163824"/>
            <a:ext cx="4297679" cy="3017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250" b="0">
                <a:solidFill>
                  <a:srgbClr val="62708A"/>
                </a:solidFill>
                <a:latin typeface="Liberation Sans"/>
              </a:defRPr>
            </a:pPr>
            <a:r>
              <a:t>500 MB banco; 1 GB arquivos; 5 GB saída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465576"/>
            <a:ext cx="10881360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" y="3593592"/>
            <a:ext cx="2761488" cy="3017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250" b="1">
                <a:solidFill>
                  <a:srgbClr val="18223B"/>
                </a:solidFill>
                <a:latin typeface="Liberation Sans"/>
              </a:defRPr>
            </a:pPr>
            <a:r>
              <a:t>Supabase Pro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30752" y="3593592"/>
            <a:ext cx="3191256" cy="3017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250" b="0">
                <a:solidFill>
                  <a:srgbClr val="62708A"/>
                </a:solidFill>
                <a:latin typeface="Liberation Sans"/>
              </a:defRPr>
            </a:pPr>
            <a:r>
              <a:t>A partir de US$ 25/mês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3593592"/>
            <a:ext cx="4297679" cy="3017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250" b="0">
                <a:solidFill>
                  <a:srgbClr val="62708A"/>
                </a:solidFill>
                <a:latin typeface="Liberation Sans"/>
              </a:defRPr>
            </a:pPr>
            <a:r>
              <a:t>8 GB disco; 100 GB arquivos; 250 GB saída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895344"/>
            <a:ext cx="10881360" cy="429768"/>
          </a:xfrm>
          <a:prstGeom prst="rect">
            <a:avLst/>
          </a:prstGeom>
          <a:solidFill>
            <a:srgbClr val="F3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2" y="4023359"/>
            <a:ext cx="2761488" cy="3017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250" b="1">
                <a:solidFill>
                  <a:srgbClr val="18223B"/>
                </a:solidFill>
                <a:latin typeface="Liberation Sans"/>
              </a:defRPr>
            </a:pPr>
            <a:r>
              <a:t>Supabase Pro · autenticação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30752" y="4023359"/>
            <a:ext cx="3191256" cy="3017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250" b="0">
                <a:solidFill>
                  <a:srgbClr val="62708A"/>
                </a:solidFill>
                <a:latin typeface="Liberation Sans"/>
              </a:defRPr>
            </a:pPr>
            <a:r>
              <a:t>100 mil ativos/mês incluídos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4023359"/>
            <a:ext cx="4297679" cy="3017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250" b="0">
                <a:solidFill>
                  <a:srgbClr val="62708A"/>
                </a:solidFill>
                <a:latin typeface="Liberation Sans"/>
              </a:defRPr>
            </a:pPr>
            <a:r>
              <a:t>Excedente: US$ 0,00325 / ativo/mês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325112"/>
            <a:ext cx="10881360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2" y="4453128"/>
            <a:ext cx="2761488" cy="3017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250" b="1">
                <a:solidFill>
                  <a:srgbClr val="18223B"/>
                </a:solidFill>
                <a:latin typeface="Liberation Sans"/>
              </a:defRPr>
            </a:pPr>
            <a:r>
              <a:t>R2 Standard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30752" y="4453128"/>
            <a:ext cx="3191256" cy="3017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250" b="0">
                <a:solidFill>
                  <a:srgbClr val="62708A"/>
                </a:solidFill>
                <a:latin typeface="Liberation Sans"/>
              </a:defRPr>
            </a:pPr>
            <a:r>
              <a:t>US$ 0,015 / GB-mês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4453128"/>
            <a:ext cx="4297679" cy="3017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250" b="0">
                <a:solidFill>
                  <a:srgbClr val="62708A"/>
                </a:solidFill>
                <a:latin typeface="Liberation Sans"/>
              </a:defRPr>
            </a:pPr>
            <a:r>
              <a:t>10 GB-mês gratuitos; saída à internet sem tarifa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4754879"/>
            <a:ext cx="10881360" cy="429768"/>
          </a:xfrm>
          <a:prstGeom prst="rect">
            <a:avLst/>
          </a:prstGeom>
          <a:solidFill>
            <a:srgbClr val="F3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8952" y="4882895"/>
            <a:ext cx="2761488" cy="3017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250" b="1">
                <a:solidFill>
                  <a:srgbClr val="18223B"/>
                </a:solidFill>
                <a:latin typeface="Liberation Sans"/>
              </a:defRPr>
            </a:pPr>
            <a:r>
              <a:t>R2 · operações A / 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30752" y="4882895"/>
            <a:ext cx="3191256" cy="3017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250" b="0">
                <a:solidFill>
                  <a:srgbClr val="62708A"/>
                </a:solidFill>
                <a:latin typeface="Liberation Sans"/>
              </a:defRPr>
            </a:pPr>
            <a:r>
              <a:t>US$ 4,50 / US$ 0,36 por milhão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0" y="4882895"/>
            <a:ext cx="4297679" cy="3017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250" b="0">
                <a:solidFill>
                  <a:srgbClr val="62708A"/>
                </a:solidFill>
                <a:latin typeface="Liberation Sans"/>
              </a:defRPr>
            </a:pPr>
            <a:r>
              <a:t>Franquias: 1 milhão A / 10 milhões B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5184648"/>
            <a:ext cx="10881360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8952" y="5312664"/>
            <a:ext cx="2761488" cy="3017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250" b="1">
                <a:solidFill>
                  <a:srgbClr val="18223B"/>
                </a:solidFill>
                <a:latin typeface="Liberation Sans"/>
              </a:defRPr>
            </a:pPr>
            <a:r>
              <a:t>Cloudflare Workers · opcional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30752" y="5312664"/>
            <a:ext cx="3191256" cy="3017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250" b="0">
                <a:solidFill>
                  <a:srgbClr val="62708A"/>
                </a:solidFill>
                <a:latin typeface="Liberation Sans"/>
              </a:defRPr>
            </a:pPr>
            <a:r>
              <a:t>Mínimo US$ 5/mês no pago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0" y="5312664"/>
            <a:ext cx="4297679" cy="3017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250" b="0">
                <a:solidFill>
                  <a:srgbClr val="62708A"/>
                </a:solidFill>
                <a:latin typeface="Liberation Sans"/>
              </a:defRPr>
            </a:pPr>
            <a:r>
              <a:t>Pode ser alternativa de hospedagem/funções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2648" y="5779008"/>
            <a:ext cx="10972800" cy="438912"/>
          </a:xfrm>
          <a:prstGeom prst="roundRect">
            <a:avLst>
              <a:gd name="adj" fmla="val 12000"/>
            </a:avLst>
          </a:prstGeom>
          <a:solidFill>
            <a:srgbClr val="F3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2648" y="5779008"/>
            <a:ext cx="41148" cy="438912"/>
          </a:xfrm>
          <a:prstGeom prst="rect">
            <a:avLst/>
          </a:prstGeom>
          <a:solidFill>
            <a:srgbClr val="405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6384" y="5888736"/>
            <a:ext cx="10607040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320" b="0">
                <a:solidFill>
                  <a:srgbClr val="17266D"/>
                </a:solidFill>
                <a:latin typeface="Liberation Sans"/>
              </a:defRPr>
            </a:pPr>
            <a:r>
              <a:t>Compute, adicionais e múltiplos projetos podem elevar a fatura. O Pro inclui um projeto Micro nas condições da tabela oficial.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con-1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4320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05256" y="256032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800" b="1">
                <a:solidFill>
                  <a:srgbClr val="18223B"/>
                </a:solidFill>
                <a:latin typeface="Liberation Sans"/>
              </a:defRPr>
            </a:pPr>
            <a:r>
              <a:t>blessed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33472" y="320040"/>
            <a:ext cx="896112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000" b="1">
                <a:solidFill>
                  <a:srgbClr val="405DF5"/>
                </a:solidFill>
                <a:latin typeface="Liberation Sans"/>
              </a:defRPr>
            </a:pPr>
            <a:r>
              <a:t>ANEXO · EXEMPLO DE ARMAZENAMENTO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097280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3100" b="1">
                <a:solidFill>
                  <a:srgbClr val="18223B"/>
                </a:solidFill>
                <a:latin typeface="Liberation Sans"/>
              </a:defRPr>
            </a:pPr>
            <a:r>
              <a:t>Vídeo muda o consumo.</a:t>
            </a:r>
          </a:p>
          <a:p>
            <a:pPr>
              <a:lnSpc>
                <a:spcPct val="108000"/>
              </a:lnSpc>
              <a:spcAft>
                <a:spcPts val="0"/>
              </a:spcAft>
              <a:defRPr sz="3100" b="1">
                <a:solidFill>
                  <a:srgbClr val="18223B"/>
                </a:solidFill>
                <a:latin typeface="Liberation Sans"/>
              </a:defRPr>
            </a:pPr>
            <a:r>
              <a:t>Usuários, sozinhos, não definem a conta.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98424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600" b="0">
                <a:solidFill>
                  <a:srgbClr val="62708A"/>
                </a:solidFill>
                <a:latin typeface="Liberation Sans"/>
              </a:defRPr>
            </a:pPr>
            <a:r>
              <a:t>R2 Standard, com volumes mantidos durante o mês. Sem operações, processamento ou outros serviços.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409944"/>
            <a:ext cx="11000232" cy="10972"/>
          </a:xfrm>
          <a:prstGeom prst="rect">
            <a:avLst/>
          </a:prstGeom>
          <a:solidFill>
            <a:srgbClr val="DCE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6537960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810" b="0">
                <a:solidFill>
                  <a:srgbClr val="62708A"/>
                </a:solidFill>
                <a:latin typeface="Liberation Sans"/>
              </a:defRPr>
            </a:pPr>
            <a:r>
              <a:t>BLESSED  /  NEGÓCIOS  /  22 OUT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01384"/>
            <a:ext cx="78638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1100" b="1">
                <a:solidFill>
                  <a:srgbClr val="405DF5"/>
                </a:solidFill>
                <a:latin typeface="Liberation Sans"/>
              </a:defRPr>
            </a:pPr>
            <a:r>
              <a:t>A3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743200"/>
            <a:ext cx="10881360" cy="594360"/>
          </a:xfrm>
          <a:prstGeom prst="roundRect">
            <a:avLst>
              <a:gd name="adj" fmla="val 12000"/>
            </a:avLst>
          </a:prstGeom>
          <a:solidFill>
            <a:srgbClr val="405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2889504"/>
            <a:ext cx="1947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Liberation Sans"/>
              </a:defRPr>
            </a:pPr>
            <a:r>
              <a:t>Volume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7791" y="2889504"/>
            <a:ext cx="354787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Liberation Sans"/>
              </a:defRPr>
            </a:pPr>
            <a:r>
              <a:t>Cálculo após franquia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56831" y="2889504"/>
            <a:ext cx="226771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Liberation Sans"/>
              </a:defRPr>
            </a:pPr>
            <a:r>
              <a:t>Armazenamento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25712" y="2889504"/>
            <a:ext cx="231343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Liberation Sans"/>
              </a:defRPr>
            </a:pPr>
            <a:r>
              <a:t>A R$ 6/US$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337560"/>
            <a:ext cx="10881360" cy="594360"/>
          </a:xfrm>
          <a:prstGeom prst="rect">
            <a:avLst/>
          </a:prstGeom>
          <a:solidFill>
            <a:srgbClr val="F3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3465576"/>
            <a:ext cx="1938528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500" b="1">
                <a:solidFill>
                  <a:srgbClr val="18223B"/>
                </a:solidFill>
                <a:latin typeface="Liberation Sans"/>
              </a:defRPr>
            </a:pPr>
            <a:r>
              <a:t>100 GB-mês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07791" y="3465576"/>
            <a:ext cx="3538727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500" b="0">
                <a:solidFill>
                  <a:srgbClr val="62708A"/>
                </a:solidFill>
                <a:latin typeface="Liberation Sans"/>
              </a:defRPr>
            </a:pPr>
            <a:r>
              <a:t>(100 − 10) × US$ 0,015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56831" y="3465576"/>
            <a:ext cx="2258568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500" b="0">
                <a:solidFill>
                  <a:srgbClr val="62708A"/>
                </a:solidFill>
                <a:latin typeface="Liberation Sans"/>
              </a:defRPr>
            </a:pPr>
            <a:r>
              <a:t>US$ 1,35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25712" y="3465576"/>
            <a:ext cx="2304288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500" b="0">
                <a:solidFill>
                  <a:srgbClr val="62708A"/>
                </a:solidFill>
                <a:latin typeface="Liberation Sans"/>
              </a:defRPr>
            </a:pPr>
            <a:r>
              <a:t>R$ 8,10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931920"/>
            <a:ext cx="1088136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2" y="4059935"/>
            <a:ext cx="1938528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500" b="1">
                <a:solidFill>
                  <a:srgbClr val="18223B"/>
                </a:solidFill>
                <a:latin typeface="Liberation Sans"/>
              </a:defRPr>
            </a:pPr>
            <a:r>
              <a:t>1.000 GB-mês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07791" y="4059935"/>
            <a:ext cx="3538727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500" b="0">
                <a:solidFill>
                  <a:srgbClr val="62708A"/>
                </a:solidFill>
                <a:latin typeface="Liberation Sans"/>
              </a:defRPr>
            </a:pPr>
            <a:r>
              <a:t>(1.000 − 10) × US$ 0,015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56831" y="4059935"/>
            <a:ext cx="2258568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500" b="0">
                <a:solidFill>
                  <a:srgbClr val="62708A"/>
                </a:solidFill>
                <a:latin typeface="Liberation Sans"/>
              </a:defRPr>
            </a:pPr>
            <a:r>
              <a:t>US$ 14,85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25712" y="4059935"/>
            <a:ext cx="2304288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500" b="0">
                <a:solidFill>
                  <a:srgbClr val="62708A"/>
                </a:solidFill>
                <a:latin typeface="Liberation Sans"/>
              </a:defRPr>
            </a:pPr>
            <a:r>
              <a:t>R$ 89,10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526280"/>
            <a:ext cx="10881360" cy="594360"/>
          </a:xfrm>
          <a:prstGeom prst="rect">
            <a:avLst/>
          </a:prstGeom>
          <a:solidFill>
            <a:srgbClr val="F3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" y="4654296"/>
            <a:ext cx="1938528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500" b="1">
                <a:solidFill>
                  <a:srgbClr val="18223B"/>
                </a:solidFill>
                <a:latin typeface="Liberation Sans"/>
              </a:defRPr>
            </a:pPr>
            <a:r>
              <a:t>10.000 GB-mês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07791" y="4654296"/>
            <a:ext cx="3538727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500" b="0">
                <a:solidFill>
                  <a:srgbClr val="62708A"/>
                </a:solidFill>
                <a:latin typeface="Liberation Sans"/>
              </a:defRPr>
            </a:pPr>
            <a:r>
              <a:t>(10.000 − 10) × US$ 0,015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56831" y="4654296"/>
            <a:ext cx="2258568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500" b="0">
                <a:solidFill>
                  <a:srgbClr val="62708A"/>
                </a:solidFill>
                <a:latin typeface="Liberation Sans"/>
              </a:defRPr>
            </a:pPr>
            <a:r>
              <a:t>US$ 149,85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25712" y="4654296"/>
            <a:ext cx="2304288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500" b="0">
                <a:solidFill>
                  <a:srgbClr val="62708A"/>
                </a:solidFill>
                <a:latin typeface="Liberation Sans"/>
              </a:defRPr>
            </a:pPr>
            <a:r>
              <a:t>R$ 899,10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2648" y="5596128"/>
            <a:ext cx="10972800" cy="640080"/>
          </a:xfrm>
          <a:prstGeom prst="roundRect">
            <a:avLst>
              <a:gd name="adj" fmla="val 12000"/>
            </a:avLst>
          </a:prstGeom>
          <a:solidFill>
            <a:srgbClr val="F3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2648" y="5596128"/>
            <a:ext cx="41148" cy="640080"/>
          </a:xfrm>
          <a:prstGeom prst="rect">
            <a:avLst/>
          </a:prstGeom>
          <a:solidFill>
            <a:srgbClr val="405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6384" y="5705856"/>
            <a:ext cx="10607040" cy="4937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320" b="0">
                <a:solidFill>
                  <a:srgbClr val="17266D"/>
                </a:solidFill>
                <a:latin typeface="Liberation Sans"/>
              </a:defRPr>
            </a:pPr>
            <a:r>
              <a:t>10 TB aqui significa 10.000 GB decimais. Monitorar tamanho dos vídeos, retenção, leituras por faixa e processamento; custo de mídia não é o custo total.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con-1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4320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05256" y="256032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800" b="1">
                <a:solidFill>
                  <a:srgbClr val="18223B"/>
                </a:solidFill>
                <a:latin typeface="Liberation Sans"/>
              </a:defRPr>
            </a:pPr>
            <a:r>
              <a:t>blessed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33472" y="320040"/>
            <a:ext cx="896112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000" b="1">
                <a:solidFill>
                  <a:srgbClr val="405DF5"/>
                </a:solidFill>
                <a:latin typeface="Liberation Sans"/>
              </a:defRPr>
            </a:pPr>
            <a:r>
              <a:t>ANEXO · ECONOMIA DO NEGÓCIO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097280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3100" b="1">
                <a:solidFill>
                  <a:srgbClr val="18223B"/>
                </a:solidFill>
                <a:latin typeface="Liberation Sans"/>
              </a:defRPr>
            </a:pPr>
            <a:r>
              <a:t>Receita bruta não é lucro.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98424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600" b="0">
                <a:solidFill>
                  <a:srgbClr val="62708A"/>
                </a:solidFill>
                <a:latin typeface="Liberation Sans"/>
              </a:defRPr>
            </a:pPr>
            <a:r>
              <a:t>Exemplo com 10 mil usuários ativos mensais. Todas as premissas podem ser editadas na planilha.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409944"/>
            <a:ext cx="11000232" cy="10972"/>
          </a:xfrm>
          <a:prstGeom prst="rect">
            <a:avLst/>
          </a:prstGeom>
          <a:solidFill>
            <a:srgbClr val="DCE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6537960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810" b="0">
                <a:solidFill>
                  <a:srgbClr val="62708A"/>
                </a:solidFill>
                <a:latin typeface="Liberation Sans"/>
              </a:defRPr>
            </a:pPr>
            <a:r>
              <a:t>BLESSED  /  NEGÓCIOS  /  22 OUT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01384"/>
            <a:ext cx="78638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1100" b="1">
                <a:solidFill>
                  <a:srgbClr val="405DF5"/>
                </a:solidFill>
                <a:latin typeface="Liberation Sans"/>
              </a:defRPr>
            </a:pPr>
            <a:r>
              <a:t>A4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606040"/>
            <a:ext cx="10881360" cy="457200"/>
          </a:xfrm>
          <a:prstGeom prst="roundRect">
            <a:avLst>
              <a:gd name="adj" fmla="val 12000"/>
            </a:avLst>
          </a:prstGeom>
          <a:solidFill>
            <a:srgbClr val="405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2752344"/>
            <a:ext cx="7754111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Liberation Sans"/>
              </a:defRPr>
            </a:pPr>
            <a:r>
              <a:t>Componente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14232" y="2752344"/>
            <a:ext cx="2724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Liberation Sans"/>
              </a:defRPr>
            </a:pPr>
            <a:r>
              <a:t>Valor mensal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063240"/>
            <a:ext cx="10881360" cy="457200"/>
          </a:xfrm>
          <a:prstGeom prst="rect">
            <a:avLst/>
          </a:prstGeom>
          <a:solidFill>
            <a:srgbClr val="F3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3191256"/>
            <a:ext cx="7744967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500" b="1">
                <a:solidFill>
                  <a:srgbClr val="18223B"/>
                </a:solidFill>
                <a:latin typeface="Liberation Sans"/>
              </a:defRPr>
            </a:pPr>
            <a:r>
              <a:t>200 assinaturas pessoais × R$ 14,90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14232" y="3191256"/>
            <a:ext cx="271576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500" b="0">
                <a:solidFill>
                  <a:srgbClr val="62708A"/>
                </a:solidFill>
                <a:latin typeface="Liberation Sans"/>
              </a:defRPr>
            </a:pPr>
            <a:r>
              <a:t>R$ 2.980,00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520440"/>
            <a:ext cx="108813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3648456"/>
            <a:ext cx="7744967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500" b="1">
                <a:solidFill>
                  <a:srgbClr val="18223B"/>
                </a:solidFill>
                <a:latin typeface="Liberation Sans"/>
              </a:defRPr>
            </a:pPr>
            <a:r>
              <a:t>20 assinaturas empresariais × R$ 34,90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14232" y="3648456"/>
            <a:ext cx="271576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500" b="0">
                <a:solidFill>
                  <a:srgbClr val="62708A"/>
                </a:solidFill>
                <a:latin typeface="Liberation Sans"/>
              </a:defRPr>
            </a:pPr>
            <a:r>
              <a:t>R$ 698,00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977639"/>
            <a:ext cx="10881360" cy="457200"/>
          </a:xfrm>
          <a:prstGeom prst="rect">
            <a:avLst/>
          </a:prstGeom>
          <a:solidFill>
            <a:srgbClr val="F3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" y="4105655"/>
            <a:ext cx="7744967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500" b="1">
                <a:solidFill>
                  <a:srgbClr val="18223B"/>
                </a:solidFill>
                <a:latin typeface="Liberation Sans"/>
              </a:defRPr>
            </a:pPr>
            <a:r>
              <a:t>Receita bruta do cenário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14232" y="4105655"/>
            <a:ext cx="271576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500" b="0">
                <a:solidFill>
                  <a:srgbClr val="62708A"/>
                </a:solidFill>
                <a:latin typeface="Liberation Sans"/>
              </a:defRPr>
            </a:pPr>
            <a:r>
              <a:t>R$ 3.678,00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434840"/>
            <a:ext cx="108813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2" y="4562855"/>
            <a:ext cx="7744967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500" b="1">
                <a:solidFill>
                  <a:srgbClr val="18223B"/>
                </a:solidFill>
                <a:latin typeface="Liberation Sans"/>
              </a:defRPr>
            </a:pPr>
            <a:r>
              <a:t>Reserva ilustrativa de 12% (taxas/tributos/reembolsos)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14232" y="4562855"/>
            <a:ext cx="271576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500" b="0">
                <a:solidFill>
                  <a:srgbClr val="62708A"/>
                </a:solidFill>
                <a:latin typeface="Liberation Sans"/>
              </a:defRPr>
            </a:pPr>
            <a:r>
              <a:t>− R$ 441,36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892040"/>
            <a:ext cx="10881360" cy="457200"/>
          </a:xfrm>
          <a:prstGeom prst="rect">
            <a:avLst/>
          </a:prstGeom>
          <a:solidFill>
            <a:srgbClr val="F3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" y="5020055"/>
            <a:ext cx="7744967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500" b="1">
                <a:solidFill>
                  <a:srgbClr val="18223B"/>
                </a:solidFill>
                <a:latin typeface="Liberation Sans"/>
              </a:defRPr>
            </a:pPr>
            <a:r>
              <a:t>Antes de custos fixos, equipe e aquisição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14232" y="5020055"/>
            <a:ext cx="271576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500" b="0">
                <a:solidFill>
                  <a:srgbClr val="62708A"/>
                </a:solidFill>
                <a:latin typeface="Liberation Sans"/>
              </a:defRPr>
            </a:pPr>
            <a:r>
              <a:t>R$ 3.236,64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8" y="5577840"/>
            <a:ext cx="10972800" cy="676656"/>
          </a:xfrm>
          <a:prstGeom prst="roundRect">
            <a:avLst>
              <a:gd name="adj" fmla="val 12000"/>
            </a:avLst>
          </a:prstGeom>
          <a:solidFill>
            <a:srgbClr val="F3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2648" y="5577840"/>
            <a:ext cx="41148" cy="676656"/>
          </a:xfrm>
          <a:prstGeom prst="rect">
            <a:avLst/>
          </a:prstGeom>
          <a:solidFill>
            <a:srgbClr val="405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6384" y="5687568"/>
            <a:ext cx="1060704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320" b="0">
                <a:solidFill>
                  <a:srgbClr val="17266D"/>
                </a:solidFill>
                <a:latin typeface="Liberation Sans"/>
              </a:defRPr>
            </a:pPr>
            <a:r>
              <a:t>Com ticket médio de R$ 16,72 e contribuição de 88%, uma estrutura fixa hipotética de R$ 8.000 exige cerca de 544 assinantes. Não é promessa de equilíbrio.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con-1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4320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05256" y="256032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800" b="1">
                <a:solidFill>
                  <a:srgbClr val="18223B"/>
                </a:solidFill>
                <a:latin typeface="Liberation Sans"/>
              </a:defRPr>
            </a:pPr>
            <a:r>
              <a:t>blessed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33472" y="320040"/>
            <a:ext cx="896112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000" b="1">
                <a:solidFill>
                  <a:srgbClr val="405DF5"/>
                </a:solidFill>
                <a:latin typeface="Liberation Sans"/>
              </a:defRPr>
            </a:pPr>
            <a:r>
              <a:t>ANEXO · OPERAÇÃO E RISCOS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097280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3100" b="1">
                <a:solidFill>
                  <a:srgbClr val="18223B"/>
                </a:solidFill>
                <a:latin typeface="Liberation Sans"/>
              </a:defRPr>
            </a:pPr>
            <a:r>
              <a:t>O que o investimento precisa proteger.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09944"/>
            <a:ext cx="11000232" cy="10972"/>
          </a:xfrm>
          <a:prstGeom prst="rect">
            <a:avLst/>
          </a:prstGeom>
          <a:solidFill>
            <a:srgbClr val="DCE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6537960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810" b="0">
                <a:solidFill>
                  <a:srgbClr val="62708A"/>
                </a:solidFill>
                <a:latin typeface="Liberation Sans"/>
              </a:defRPr>
            </a:pPr>
            <a:r>
              <a:t>BLESSED  /  NEGÓCIOS  /  22 OUT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01384"/>
            <a:ext cx="78638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1100" b="1">
                <a:solidFill>
                  <a:srgbClr val="405DF5"/>
                </a:solidFill>
                <a:latin typeface="Liberation Sans"/>
              </a:defRPr>
            </a:pPr>
            <a:r>
              <a:t>A5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10881360" cy="530352"/>
          </a:xfrm>
          <a:prstGeom prst="roundRect">
            <a:avLst>
              <a:gd name="adj" fmla="val 12000"/>
            </a:avLst>
          </a:prstGeom>
          <a:solidFill>
            <a:srgbClr val="405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295144"/>
            <a:ext cx="3959352" cy="3931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Liberation Sans"/>
              </a:defRPr>
            </a:pPr>
            <a:r>
              <a:t>Risco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19472" y="2295144"/>
            <a:ext cx="6519672" cy="3931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Liberation Sans"/>
              </a:defRPr>
            </a:pPr>
            <a:r>
              <a:t>Resposta proposta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679192"/>
            <a:ext cx="10881360" cy="530352"/>
          </a:xfrm>
          <a:prstGeom prst="rect">
            <a:avLst/>
          </a:prstGeom>
          <a:solidFill>
            <a:srgbClr val="F3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2807208"/>
            <a:ext cx="3950207" cy="4023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500" b="1">
                <a:solidFill>
                  <a:srgbClr val="18223B"/>
                </a:solidFill>
                <a:latin typeface="Liberation Sans"/>
              </a:defRPr>
            </a:pPr>
            <a:r>
              <a:t>Retenção e concorrência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19472" y="2807208"/>
            <a:ext cx="6510527" cy="4023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500" b="0">
                <a:solidFill>
                  <a:srgbClr val="62708A"/>
                </a:solidFill>
                <a:latin typeface="Liberation Sans"/>
              </a:defRPr>
            </a:pPr>
            <a:r>
              <a:t>Escolher um nicho inicial; medir D7/D30 e frequência.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209544"/>
            <a:ext cx="1088136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3337560"/>
            <a:ext cx="3950207" cy="4023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500" b="1">
                <a:solidFill>
                  <a:srgbClr val="18223B"/>
                </a:solidFill>
                <a:latin typeface="Liberation Sans"/>
              </a:defRPr>
            </a:pPr>
            <a:r>
              <a:t>Captação de criadores e empresas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19472" y="3337560"/>
            <a:ext cx="6510527" cy="4023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500" b="0">
                <a:solidFill>
                  <a:srgbClr val="62708A"/>
                </a:solidFill>
                <a:latin typeface="Liberation Sans"/>
              </a:defRPr>
            </a:pPr>
            <a:r>
              <a:t>Pilotos assistidos; medir resposta, entrega e recompra.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739896"/>
            <a:ext cx="10881360" cy="530352"/>
          </a:xfrm>
          <a:prstGeom prst="rect">
            <a:avLst/>
          </a:prstGeom>
          <a:solidFill>
            <a:srgbClr val="F3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" y="3867911"/>
            <a:ext cx="3950207" cy="4023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500" b="1">
                <a:solidFill>
                  <a:srgbClr val="18223B"/>
                </a:solidFill>
                <a:latin typeface="Liberation Sans"/>
              </a:defRPr>
            </a:pPr>
            <a:r>
              <a:t>Segurança e privacidade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19472" y="3867911"/>
            <a:ext cx="6510527" cy="4023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500" b="0">
                <a:solidFill>
                  <a:srgbClr val="62708A"/>
                </a:solidFill>
                <a:latin typeface="Liberation Sans"/>
              </a:defRPr>
            </a:pPr>
            <a:r>
              <a:t>Auditoria RLS, restauração de backup e gestão de incidentes.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270248"/>
            <a:ext cx="1088136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2" y="4398264"/>
            <a:ext cx="3950207" cy="4023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500" b="1">
                <a:solidFill>
                  <a:srgbClr val="18223B"/>
                </a:solidFill>
                <a:latin typeface="Liberation Sans"/>
              </a:defRPr>
            </a:pPr>
            <a:r>
              <a:t>Conteúdo, direitos e moderação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19472" y="4398264"/>
            <a:ext cx="6510527" cy="4023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500" b="0">
                <a:solidFill>
                  <a:srgbClr val="62708A"/>
                </a:solidFill>
                <a:latin typeface="Liberation Sans"/>
              </a:defRPr>
            </a:pPr>
            <a:r>
              <a:t>Termos, denúncias, curadoria e regras para campanhas.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4800600"/>
            <a:ext cx="10881360" cy="530352"/>
          </a:xfrm>
          <a:prstGeom prst="rect">
            <a:avLst/>
          </a:prstGeom>
          <a:solidFill>
            <a:srgbClr val="F3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952" y="4928616"/>
            <a:ext cx="3950207" cy="4023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500" b="1">
                <a:solidFill>
                  <a:srgbClr val="18223B"/>
                </a:solidFill>
                <a:latin typeface="Liberation Sans"/>
              </a:defRPr>
            </a:pPr>
            <a:r>
              <a:t>Dependência de uma pessoa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19472" y="4928616"/>
            <a:ext cx="6510527" cy="4023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500" b="0">
                <a:solidFill>
                  <a:srgbClr val="62708A"/>
                </a:solidFill>
                <a:latin typeface="Liberation Sans"/>
              </a:defRPr>
            </a:pPr>
            <a:r>
              <a:t>Documentação, testes, acesso organizado e apoio técnico.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5330952"/>
            <a:ext cx="1088136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8952" y="5458968"/>
            <a:ext cx="3950207" cy="4023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500" b="1">
                <a:solidFill>
                  <a:srgbClr val="18223B"/>
                </a:solidFill>
                <a:latin typeface="Liberation Sans"/>
              </a:defRPr>
            </a:pPr>
            <a:r>
              <a:t>Custos e abuso de vídeo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19472" y="5458968"/>
            <a:ext cx="6510527" cy="4023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500" b="0">
                <a:solidFill>
                  <a:srgbClr val="62708A"/>
                </a:solidFill>
                <a:latin typeface="Liberation Sans"/>
              </a:defRPr>
            </a:pPr>
            <a:r>
              <a:t>Cotas, alertas, limites de upload e monitoramento por serviço.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con-1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4320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05256" y="256032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800" b="1">
                <a:solidFill>
                  <a:srgbClr val="18223B"/>
                </a:solidFill>
                <a:latin typeface="Liberation Sans"/>
              </a:defRPr>
            </a:pPr>
            <a:r>
              <a:t>blessed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33472" y="320040"/>
            <a:ext cx="896112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000" b="1">
                <a:solidFill>
                  <a:srgbClr val="405DF5"/>
                </a:solidFill>
                <a:latin typeface="Liberation Sans"/>
              </a:defRPr>
            </a:pPr>
            <a:r>
              <a:t>ANEXO · INDICADORES DO PILOTO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097280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3100" b="1">
                <a:solidFill>
                  <a:srgbClr val="18223B"/>
                </a:solidFill>
                <a:latin typeface="Liberation Sans"/>
              </a:defRPr>
            </a:pPr>
            <a:r>
              <a:t>O painel que orienta a próxima decisão.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09944"/>
            <a:ext cx="11000232" cy="10972"/>
          </a:xfrm>
          <a:prstGeom prst="rect">
            <a:avLst/>
          </a:prstGeom>
          <a:solidFill>
            <a:srgbClr val="DCE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6537960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810" b="0">
                <a:solidFill>
                  <a:srgbClr val="62708A"/>
                </a:solidFill>
                <a:latin typeface="Liberation Sans"/>
              </a:defRPr>
            </a:pPr>
            <a:r>
              <a:t>BLESSED  /  NEGÓCIOS  /  22 OUT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01384"/>
            <a:ext cx="78638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1100" b="1">
                <a:solidFill>
                  <a:srgbClr val="405DF5"/>
                </a:solidFill>
                <a:latin typeface="Liberation Sans"/>
              </a:defRPr>
            </a:pPr>
            <a:r>
              <a:t>A6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57984"/>
            <a:ext cx="10881360" cy="512064"/>
          </a:xfrm>
          <a:prstGeom prst="roundRect">
            <a:avLst>
              <a:gd name="adj" fmla="val 12000"/>
            </a:avLst>
          </a:prstGeom>
          <a:solidFill>
            <a:srgbClr val="405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304288"/>
            <a:ext cx="2907791" cy="374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Liberation Sans"/>
              </a:defRPr>
            </a:pPr>
            <a:r>
              <a:t>Dimensão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67911" y="2304288"/>
            <a:ext cx="7571231" cy="374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Liberation Sans"/>
              </a:defRPr>
            </a:pPr>
            <a:r>
              <a:t>Medir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670048"/>
            <a:ext cx="10881360" cy="512064"/>
          </a:xfrm>
          <a:prstGeom prst="rect">
            <a:avLst/>
          </a:prstGeom>
          <a:solidFill>
            <a:srgbClr val="F3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2798064"/>
            <a:ext cx="289864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500" b="1">
                <a:solidFill>
                  <a:srgbClr val="18223B"/>
                </a:solidFill>
                <a:latin typeface="Liberation Sans"/>
              </a:defRPr>
            </a:pPr>
            <a:r>
              <a:t>Aquisição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67911" y="2798064"/>
            <a:ext cx="756208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500" b="0">
                <a:solidFill>
                  <a:srgbClr val="62708A"/>
                </a:solidFill>
                <a:latin typeface="Liberation Sans"/>
              </a:defRPr>
            </a:pPr>
            <a:r>
              <a:t>Visita → cadastro; origem e custo por usuário ativado.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182112"/>
            <a:ext cx="10881360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3310128"/>
            <a:ext cx="289864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500" b="1">
                <a:solidFill>
                  <a:srgbClr val="18223B"/>
                </a:solidFill>
                <a:latin typeface="Liberation Sans"/>
              </a:defRPr>
            </a:pPr>
            <a:r>
              <a:t>Ativação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67911" y="3310128"/>
            <a:ext cx="756208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500" b="0">
                <a:solidFill>
                  <a:srgbClr val="62708A"/>
                </a:solidFill>
                <a:latin typeface="Liberation Sans"/>
              </a:defRPr>
            </a:pPr>
            <a:r>
              <a:t>Perfil + primeiro follow ou primeira publicação em 24h.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694176"/>
            <a:ext cx="10881360" cy="512064"/>
          </a:xfrm>
          <a:prstGeom prst="rect">
            <a:avLst/>
          </a:prstGeom>
          <a:solidFill>
            <a:srgbClr val="F3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" y="3822191"/>
            <a:ext cx="289864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500" b="1">
                <a:solidFill>
                  <a:srgbClr val="18223B"/>
                </a:solidFill>
                <a:latin typeface="Liberation Sans"/>
              </a:defRPr>
            </a:pPr>
            <a:r>
              <a:t>Retenção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67911" y="3822191"/>
            <a:ext cx="756208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500" b="0">
                <a:solidFill>
                  <a:srgbClr val="62708A"/>
                </a:solidFill>
                <a:latin typeface="Liberation Sans"/>
              </a:defRPr>
            </a:pPr>
            <a:r>
              <a:t>D7, D30, usuários ativos semanais/mensais por coorte.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206240"/>
            <a:ext cx="10881360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2" y="4334255"/>
            <a:ext cx="289864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500" b="1">
                <a:solidFill>
                  <a:srgbClr val="18223B"/>
                </a:solidFill>
                <a:latin typeface="Liberation Sans"/>
              </a:defRPr>
            </a:pPr>
            <a:r>
              <a:t>Criadores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67911" y="4334255"/>
            <a:ext cx="756208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500" b="0">
                <a:solidFill>
                  <a:srgbClr val="62708A"/>
                </a:solidFill>
                <a:latin typeface="Liberation Sans"/>
              </a:defRPr>
            </a:pPr>
            <a:r>
              <a:t>Conteúdo original/semana; portfólios completos; resposta.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4718304"/>
            <a:ext cx="10881360" cy="512064"/>
          </a:xfrm>
          <a:prstGeom prst="rect">
            <a:avLst/>
          </a:prstGeom>
          <a:solidFill>
            <a:srgbClr val="F3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952" y="4846320"/>
            <a:ext cx="289864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500" b="1">
                <a:solidFill>
                  <a:srgbClr val="18223B"/>
                </a:solidFill>
                <a:latin typeface="Liberation Sans"/>
              </a:defRPr>
            </a:pPr>
            <a:r>
              <a:t>Empresas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67911" y="4846320"/>
            <a:ext cx="756208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500" b="0">
                <a:solidFill>
                  <a:srgbClr val="62708A"/>
                </a:solidFill>
                <a:latin typeface="Liberation Sans"/>
              </a:defRPr>
            </a:pPr>
            <a:r>
              <a:t>Leads, campanhas concluídas, recompra e satisfação.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5230368"/>
            <a:ext cx="10881360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8952" y="5358384"/>
            <a:ext cx="289864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500" b="1">
                <a:solidFill>
                  <a:srgbClr val="18223B"/>
                </a:solidFill>
                <a:latin typeface="Liberation Sans"/>
              </a:defRPr>
            </a:pPr>
            <a:r>
              <a:t>Economia e operação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67911" y="5358384"/>
            <a:ext cx="756208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500" b="0">
                <a:solidFill>
                  <a:srgbClr val="62708A"/>
                </a:solidFill>
                <a:latin typeface="Liberation Sans"/>
              </a:defRPr>
            </a:pPr>
            <a:r>
              <a:t>Pagantes, cancelamento, receita, custo técnico e denúncias.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2648" y="5788152"/>
            <a:ext cx="10972800" cy="457200"/>
          </a:xfrm>
          <a:prstGeom prst="roundRect">
            <a:avLst>
              <a:gd name="adj" fmla="val 12000"/>
            </a:avLst>
          </a:prstGeom>
          <a:solidFill>
            <a:srgbClr val="F3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2648" y="5788152"/>
            <a:ext cx="41148" cy="457200"/>
          </a:xfrm>
          <a:prstGeom prst="rect">
            <a:avLst/>
          </a:prstGeom>
          <a:solidFill>
            <a:srgbClr val="405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6384" y="5897880"/>
            <a:ext cx="10607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320" b="0">
                <a:solidFill>
                  <a:srgbClr val="17266D"/>
                </a:solidFill>
                <a:latin typeface="Liberation Sans"/>
              </a:defRPr>
            </a:pPr>
            <a:r>
              <a:t>A amostra pública consultada retornou 22 perfis, 21 publicações e 1 título de cinema. É um recorte público; não mede total de contas, MAU, receita ou retenção.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con-1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4320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05256" y="256032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800" b="1">
                <a:solidFill>
                  <a:srgbClr val="18223B"/>
                </a:solidFill>
                <a:latin typeface="Liberation Sans"/>
              </a:defRPr>
            </a:pPr>
            <a:r>
              <a:t>blessed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33472" y="320040"/>
            <a:ext cx="896112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000" b="1">
                <a:solidFill>
                  <a:srgbClr val="405DF5"/>
                </a:solidFill>
                <a:latin typeface="Liberation Sans"/>
              </a:defRPr>
            </a:pPr>
            <a:r>
              <a:t>ANEXO · FONTES E CRITÉRIOS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097280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3100" b="1">
                <a:solidFill>
                  <a:srgbClr val="18223B"/>
                </a:solidFill>
                <a:latin typeface="Liberation Sans"/>
              </a:defRPr>
            </a:pPr>
            <a:r>
              <a:t>Origem das informações.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09944"/>
            <a:ext cx="11000232" cy="10972"/>
          </a:xfrm>
          <a:prstGeom prst="rect">
            <a:avLst/>
          </a:prstGeom>
          <a:solidFill>
            <a:srgbClr val="DCE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6537960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810" b="0">
                <a:solidFill>
                  <a:srgbClr val="62708A"/>
                </a:solidFill>
                <a:latin typeface="Liberation Sans"/>
              </a:defRPr>
            </a:pPr>
            <a:r>
              <a:t>BLESSED  /  NEGÓCIOS  /  22 OUT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01384"/>
            <a:ext cx="78638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  <a:defRPr sz="1100" b="1">
                <a:solidFill>
                  <a:srgbClr val="405DF5"/>
                </a:solidFill>
                <a:latin typeface="Liberation Sans"/>
              </a:defRPr>
            </a:pPr>
            <a:r>
              <a:t>A7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48840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500" b="1">
                <a:solidFill>
                  <a:srgbClr val="405DF5"/>
                </a:solidFill>
                <a:latin typeface="Liberation Sans"/>
              </a:defRPr>
            </a:pPr>
            <a:r>
              <a:t>Produto e preços ao usuário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148840"/>
            <a:ext cx="781812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450" b="0">
                <a:solidFill>
                  <a:srgbClr val="62708A"/>
                </a:solidFill>
                <a:latin typeface="Liberation Sans"/>
              </a:defRPr>
            </a:pPr>
            <a:r>
              <a:t>Código privado Blessed, versão bb28636; telas capturadas em 22/10/2026.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34056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500" b="1">
                <a:solidFill>
                  <a:srgbClr val="405DF5"/>
                </a:solidFill>
                <a:latin typeface="Liberation Sans"/>
              </a:defRPr>
            </a:pPr>
            <a:r>
              <a:t>Dados públicos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734056"/>
            <a:ext cx="781812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450" b="0">
                <a:solidFill>
                  <a:srgbClr val="62708A"/>
                </a:solidFill>
                <a:latin typeface="Liberation Sans"/>
              </a:defRPr>
            </a:pPr>
            <a:r>
              <a:t>Vitrine pública da comunidade e catálogo público; capturas sem acesso a mensagens reais.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319272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500" b="1">
                <a:solidFill>
                  <a:srgbClr val="405DF5"/>
                </a:solidFill>
                <a:latin typeface="Liberation Sans"/>
              </a:defRPr>
            </a:pPr>
            <a:r>
              <a:t>Segurança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3319272"/>
            <a:ext cx="781812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450" b="0">
                <a:solidFill>
                  <a:srgbClr val="62708A"/>
                </a:solidFill>
                <a:latin typeface="Liberation Sans"/>
              </a:defRPr>
            </a:pPr>
            <a:r>
              <a:t>supabase-chat.sql, supabase-chat-midias.sql, autenticação e frontend. Revisão de projeto.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904487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500" b="1">
                <a:solidFill>
                  <a:srgbClr val="405DF5"/>
                </a:solidFill>
                <a:latin typeface="Liberation Sans"/>
              </a:defRPr>
            </a:pPr>
            <a:r>
              <a:t>Supabase · planos e uso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3904487"/>
            <a:ext cx="781812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450" b="0">
                <a:solidFill>
                  <a:srgbClr val="62708A"/>
                </a:solidFill>
                <a:latin typeface="Liberation Sans"/>
              </a:defRPr>
            </a:pPr>
            <a:r>
              <a:t>github.com/supabase/supabase/tree/master/packages/shared-data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489704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500" b="1">
                <a:solidFill>
                  <a:srgbClr val="405DF5"/>
                </a:solidFill>
                <a:latin typeface="Liberation Sans"/>
              </a:defRPr>
            </a:pPr>
            <a:r>
              <a:t>Cloudflare R2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4489704"/>
            <a:ext cx="781812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450" b="0">
                <a:solidFill>
                  <a:srgbClr val="62708A"/>
                </a:solidFill>
                <a:latin typeface="Liberation Sans"/>
              </a:defRPr>
            </a:pPr>
            <a:r>
              <a:t>developers.cloudflare.com/r2/pricing/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074920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500" b="1">
                <a:solidFill>
                  <a:srgbClr val="405DF5"/>
                </a:solidFill>
                <a:latin typeface="Liberation Sans"/>
              </a:defRPr>
            </a:pPr>
            <a:r>
              <a:t>Cloudflare Workers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5074920"/>
            <a:ext cx="781812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450" b="0">
                <a:solidFill>
                  <a:srgbClr val="62708A"/>
                </a:solidFill>
                <a:latin typeface="Liberation Sans"/>
              </a:defRPr>
            </a:pPr>
            <a:r>
              <a:t>developers.cloudflare.com/workers/platform/pricing/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" y="5980176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200" b="0">
                <a:solidFill>
                  <a:srgbClr val="17266D"/>
                </a:solidFill>
                <a:latin typeface="Liberation Sans"/>
              </a:defRPr>
            </a:pPr>
            <a:r>
              <a:t>Cenários, distribuição de investimento e metas de piloto são propostas. Não foram usadas fotos novas geradas por IA.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Blessed — Apresentação de negócio</dc:title>
  <dc:subject>Produto, criadores, empresas, modelo de negócio e plano de manutenção</dc:subject>
  <dc:creator>Desenvolvedor do Blessed</dc:creator>
  <cp:keywords>Blessed, investimento, comunidade, criadores, empresas</cp:keywords>
  <dc:description>Preparada em 22/10/2026. Capturas do código atual; sem imagens geradas por IA. Cenários financeiros identificados.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